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12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jha" userId="841e15cb6e827339" providerId="LiveId" clId="{5BDE1102-D55C-4D66-949B-94511283CADF}"/>
    <pc:docChg chg="undo custSel modSld">
      <pc:chgData name="Harsh jha" userId="841e15cb6e827339" providerId="LiveId" clId="{5BDE1102-D55C-4D66-949B-94511283CADF}" dt="2026-09-09T04:02:56.937" v="75" actId="1037"/>
      <pc:docMkLst>
        <pc:docMk/>
      </pc:docMkLst>
      <pc:sldChg chg="delSp modSp mod">
        <pc:chgData name="Harsh jha" userId="841e15cb6e827339" providerId="LiveId" clId="{5BDE1102-D55C-4D66-949B-94511283CADF}" dt="2026-09-09T03:46:08.291" v="73" actId="1076"/>
        <pc:sldMkLst>
          <pc:docMk/>
          <pc:sldMk cId="0" sldId="256"/>
        </pc:sldMkLst>
        <pc:spChg chg="del mod">
          <ac:chgData name="Harsh jha" userId="841e15cb6e827339" providerId="LiveId" clId="{5BDE1102-D55C-4D66-949B-94511283CADF}" dt="2026-09-09T03:45:47.365" v="70" actId="478"/>
          <ac:spMkLst>
            <pc:docMk/>
            <pc:sldMk cId="0" sldId="256"/>
            <ac:spMk id="9" creationId="{00000000-0000-0000-0000-000000000000}"/>
          </ac:spMkLst>
        </pc:spChg>
        <pc:spChg chg="mod">
          <ac:chgData name="Harsh jha" userId="841e15cb6e827339" providerId="LiveId" clId="{5BDE1102-D55C-4D66-949B-94511283CADF}" dt="2026-09-09T03:46:02.650" v="72" actId="255"/>
          <ac:spMkLst>
            <pc:docMk/>
            <pc:sldMk cId="0" sldId="256"/>
            <ac:spMk id="11" creationId="{00000000-0000-0000-0000-000000000000}"/>
          </ac:spMkLst>
        </pc:spChg>
        <pc:spChg chg="mod">
          <ac:chgData name="Harsh jha" userId="841e15cb6e827339" providerId="LiveId" clId="{5BDE1102-D55C-4D66-949B-94511283CADF}" dt="2026-09-09T03:46:08.291" v="73" actId="1076"/>
          <ac:spMkLst>
            <pc:docMk/>
            <pc:sldMk cId="0" sldId="256"/>
            <ac:spMk id="12" creationId="{00000000-0000-0000-0000-000000000000}"/>
          </ac:spMkLst>
        </pc:spChg>
      </pc:sldChg>
      <pc:sldChg chg="modSp mod">
        <pc:chgData name="Harsh jha" userId="841e15cb6e827339" providerId="LiveId" clId="{5BDE1102-D55C-4D66-949B-94511283CADF}" dt="2026-09-09T04:02:56.937" v="75" actId="1037"/>
        <pc:sldMkLst>
          <pc:docMk/>
          <pc:sldMk cId="0" sldId="263"/>
        </pc:sldMkLst>
        <pc:spChg chg="mod">
          <ac:chgData name="Harsh jha" userId="841e15cb6e827339" providerId="LiveId" clId="{5BDE1102-D55C-4D66-949B-94511283CADF}" dt="2026-09-09T04:02:56.937" v="75" actId="1037"/>
          <ac:spMkLst>
            <pc:docMk/>
            <pc:sldMk cId="0" sldId="263"/>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6862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guide, panel members, and faculty, a very pleasant morning. Today, our team is privileged to present our S.E. Capstone Project-I titled 'CareerMentor AI: An Autonomous Multilingual AI-Powered Career Guidance and Management Agent' under the Department of AIML at St. John College of Engineering and Management, Palghar. My name is Harsh Jha, and along with my partners, we present our solution to bridge the gap between academic learning and corporate technical placements.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presentation roadmap. We cover Introduction, Motivation, Problem Statement, Objectives, Scope, an 8-paper Literature Review with 3 deep dives, our Proposed System with its 8086-style architecture block diagram, IEEE References, and our Q&amp;A defense.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graduates 1.5 million engineers annually, yet less than 20% are employable in software roles. College counselor ratios exceed 500:1, while over 75% of resumes are discarded by automated ATS screeners. CareerMentor AI solves this by serving as a 24/7 autonomous mentor unifying multi-session chat, resume AST evaluation, co-planning, and proactive email check-ins in English, Hindi, Marathi, and Sanskrit.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motivation stems from four key points: static roadmaps suffer 85%+ abandonment; freshers lack a sandbox for STAR interview practice; candidates face tool fragmentation; and traditional tools are passive. We built an active autonomous agent that triggers 2-hour interval check-ins and recalibrates schedules to science-backed 57-minute focus blocks.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statement addresses the barrier freshers face from ATS-incompatible resumes, unstructured preparation paths, and the complete absence of continuous, accessible, multilingual mentorship. Existing tools are fragmented, expensive, or static, failing to evaluate quantifiable achievement metrics or adapt to daily study budgets.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5 core objectives are: building a multi-session conversational mentor with voice and upload support; engineering a resume ATS analyzer with Google X-Y-Z metrics; constructing a Human+AI Co-Planner with workload risk analysis; creating a Knowledge Vault with dream company compatibility matching; and deploying an autonomous 2-hour reminder daemon. Freshers elevate their ATS score above 85% and avoid study burnout.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in-scope deliverables include the full-stack responsive dark-mode web app, PostgreSQL and SQLite storage, multi-session chat, Web Speech API voice input, PDF/DOCX parsing, and 4-language localization. Out-of-scope for this phase are video emotion analysis—reserved for Capstone-II—and native compiled mobile binaries.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surveyed eight recent papers from IEEE, ACM, and Springer. Roy et al. in IEEE 2022 explored resume screening with TF-IDF, but ignored Google X-Y-Z action metrics. Griffiths and Chen in ACM 2023 studied conversational tutors, but identified that surveyed systems lacked persistent multi-session memory and attachments. Each identified research gap directly motivated a module in CareerMentor 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base paper is Roy et al. in IEEE ICCCNT 2022 on Automated Resume Screening. While token stream parsing achieved 88.4% skill extraction accuracy, the system only generated passive match scores. We enhanced this by evaluating the Google X-Y-Z achievement formula and providing line-by-line rewrite suggestions.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2 analyzed Griffiths and Chen in ACM 2023. They proved mock interviews reduce anxiety when structured around the STAR method, but systems lacked persistent sessions and audio input. CareerMentor AI implements database-backed multi-session chat with Web Speech API voice transcription.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3 examined Zhang et al. in Springer 2021. Their research revealed that rigid schedules cause severe student abandonment during exam periods, whereas dynamic task recalibration increases completion by 54%. We applied this by implementing science-backed 57-minute focus blocks and an automated Plan Analyzer.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depicts Figure 1: Block Diagram of our Proposed System. Mirroring an 8086 execution pipeline, the top tier is our Presentation Layer in React 19. Requests flow over REST with Bearer JWT tokens to our Express Application Layer, where Self-Healing Auth Middleware verifies tokens and auto-recovers user state on cloud container restarts. The controller layer orchestrates binary parsing with pdf-parse, prompt synthesis with Google Gemini, relational queries to PostgreSQL/SQLite, and transactional emails via Resend.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academic and industry references formatted in IEEE style, spanning IEEE transactions, ACM proceedings, Springer journals, and Google/OpenAI technical whitepapers.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CareerMentor AI turns career anxiety into structured daily progress. Our repository is open-source on GitHub, and the live application is deployed on Render. Thank you, and we welcome questions from the panel.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key technical considerations: Cloud database resets on Render are handled by decoding cryptographically verified JWT claims in our middleware to auto-restore the user row in the database. Hallucinations are mitigated through strict JSON schemas and linking YouTube masterclasses once per weekly milestone on Day 1. Multilingual prompts preserve programming keywords in English while conversing in Hindi or Marathi. And our ATS score uses a 5-pillar formula: 30% X-Y-Z metrics, 25% technical skills, 20% structure, 15% metrics, and 10% readability.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work/college_logo.jpg"/>
          <p:cNvPicPr>
            <a:picLocks noChangeAspect="1"/>
          </p:cNvPicPr>
          <p:nvPr/>
        </p:nvPicPr>
        <p:blipFill>
          <a:blip r:embed="rId3"/>
          <a:stretch>
            <a:fillRect/>
          </a:stretch>
        </p:blipFill>
        <p:spPr>
          <a:xfrm>
            <a:off x="320040" y="164592"/>
            <a:ext cx="868680" cy="640080"/>
          </a:xfrm>
          <a:prstGeom prst="rect">
            <a:avLst/>
          </a:prstGeom>
        </p:spPr>
      </p:pic>
      <p:pic>
        <p:nvPicPr>
          <p:cNvPr id="3" name="Image 1" descr="/home/claude/work/aldel_logo.jpg"/>
          <p:cNvPicPr>
            <a:picLocks noChangeAspect="1"/>
          </p:cNvPicPr>
          <p:nvPr/>
        </p:nvPicPr>
        <p:blipFill>
          <a:blip r:embed="rId4"/>
          <a:stretch>
            <a:fillRect/>
          </a:stretch>
        </p:blipFill>
        <p:spPr>
          <a:xfrm>
            <a:off x="8092440" y="109728"/>
            <a:ext cx="566928" cy="713232"/>
          </a:xfrm>
          <a:prstGeom prst="rect">
            <a:avLst/>
          </a:prstGeom>
        </p:spPr>
      </p:pic>
      <p:sp>
        <p:nvSpPr>
          <p:cNvPr id="4" name="Text 0"/>
          <p:cNvSpPr txBox="1"/>
          <p:nvPr/>
        </p:nvSpPr>
        <p:spPr>
          <a:xfrm>
            <a:off x="0" y="137160"/>
            <a:ext cx="9144000" cy="274320"/>
          </a:xfrm>
          <a:prstGeom prst="rect">
            <a:avLst/>
          </a:prstGeom>
          <a:noFill/>
          <a:ln/>
        </p:spPr>
        <p:txBody>
          <a:bodyPr wrap="square" rtlCol="0" anchor="ctr"/>
          <a:lstStyle/>
          <a:p>
            <a:pPr marL="0" indent="0" algn="ctr">
              <a:buNone/>
            </a:pPr>
            <a:r>
              <a:rPr lang="en-US" sz="1500" b="1" dirty="0">
                <a:solidFill>
                  <a:srgbClr val="C00000"/>
                </a:solidFill>
                <a:latin typeface="Times New Roman" pitchFamily="34" charset="0"/>
                <a:ea typeface="Times New Roman" pitchFamily="34" charset="-122"/>
                <a:cs typeface="Times New Roman" pitchFamily="34" charset="-120"/>
              </a:rPr>
              <a:t>Aldel Education Trust's</a:t>
            </a:r>
            <a:endParaRPr lang="en-US" sz="1500" dirty="0"/>
          </a:p>
        </p:txBody>
      </p:sp>
      <p:sp>
        <p:nvSpPr>
          <p:cNvPr id="5" name="Text 1"/>
          <p:cNvSpPr txBox="1"/>
          <p:nvPr/>
        </p:nvSpPr>
        <p:spPr>
          <a:xfrm>
            <a:off x="0" y="384048"/>
            <a:ext cx="9144000" cy="320040"/>
          </a:xfrm>
          <a:prstGeom prst="rect">
            <a:avLst/>
          </a:prstGeom>
          <a:noFill/>
          <a:ln/>
        </p:spPr>
        <p:txBody>
          <a:bodyPr wrap="square" rtlCol="0" anchor="ctr"/>
          <a:lstStyle/>
          <a:p>
            <a:pPr marL="0" indent="0" algn="ctr">
              <a:buNone/>
            </a:pPr>
            <a:r>
              <a:rPr lang="en-US" sz="1700" b="1" dirty="0">
                <a:solidFill>
                  <a:srgbClr val="33328F"/>
                </a:solidFill>
                <a:latin typeface="Times New Roman" pitchFamily="34" charset="0"/>
                <a:ea typeface="Times New Roman" pitchFamily="34" charset="-122"/>
                <a:cs typeface="Times New Roman" pitchFamily="34" charset="-120"/>
              </a:rPr>
              <a:t>St. John College of Engineering and Management, Palghar</a:t>
            </a:r>
            <a:endParaRPr lang="en-US" sz="1700" dirty="0"/>
          </a:p>
        </p:txBody>
      </p:sp>
      <p:sp>
        <p:nvSpPr>
          <p:cNvPr id="6" name="Text 2"/>
          <p:cNvSpPr txBox="1"/>
          <p:nvPr/>
        </p:nvSpPr>
        <p:spPr>
          <a:xfrm>
            <a:off x="0" y="658368"/>
            <a:ext cx="9144000" cy="256032"/>
          </a:xfrm>
          <a:prstGeom prst="rect">
            <a:avLst/>
          </a:prstGeom>
          <a:noFill/>
          <a:ln/>
        </p:spPr>
        <p:txBody>
          <a:bodyPr wrap="square" rtlCol="0" anchor="ctr"/>
          <a:lstStyle/>
          <a:p>
            <a:pPr marL="0" indent="0" algn="ctr">
              <a:buNone/>
            </a:pPr>
            <a:r>
              <a:rPr lang="en-US" sz="1100" b="1" dirty="0">
                <a:solidFill>
                  <a:srgbClr val="C00000"/>
                </a:solidFill>
                <a:latin typeface="Times New Roman" pitchFamily="34" charset="0"/>
                <a:ea typeface="Times New Roman" pitchFamily="34" charset="-122"/>
                <a:cs typeface="Times New Roman" pitchFamily="34" charset="-120"/>
              </a:rPr>
              <a:t>NAAC Accredited with Grade A+</a:t>
            </a:r>
            <a:endParaRPr lang="en-US" sz="1100" dirty="0"/>
          </a:p>
        </p:txBody>
      </p:sp>
      <p:sp>
        <p:nvSpPr>
          <p:cNvPr id="7" name="Shape 3"/>
          <p:cNvSpPr/>
          <p:nvPr/>
        </p:nvSpPr>
        <p:spPr>
          <a:xfrm>
            <a:off x="274320" y="960120"/>
            <a:ext cx="8595360" cy="0"/>
          </a:xfrm>
          <a:prstGeom prst="line">
            <a:avLst/>
          </a:prstGeom>
          <a:noFill/>
          <a:ln w="28575">
            <a:solidFill>
              <a:srgbClr val="33328F"/>
            </a:solidFill>
            <a:prstDash val="solid"/>
          </a:ln>
        </p:spPr>
      </p:sp>
      <p:sp>
        <p:nvSpPr>
          <p:cNvPr id="8" name="Text 4"/>
          <p:cNvSpPr txBox="1"/>
          <p:nvPr/>
        </p:nvSpPr>
        <p:spPr>
          <a:xfrm>
            <a:off x="0" y="1417320"/>
            <a:ext cx="9144000" cy="365760"/>
          </a:xfrm>
          <a:prstGeom prst="rect">
            <a:avLst/>
          </a:prstGeom>
          <a:noFill/>
          <a:ln/>
        </p:spPr>
        <p:txBody>
          <a:bodyPr wrap="square"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DEPARTMENT OF AIML</a:t>
            </a:r>
            <a:endParaRPr lang="en-US" sz="2000" dirty="0"/>
          </a:p>
        </p:txBody>
      </p:sp>
      <p:sp>
        <p:nvSpPr>
          <p:cNvPr id="10" name="Text 6"/>
          <p:cNvSpPr txBox="1"/>
          <p:nvPr/>
        </p:nvSpPr>
        <p:spPr>
          <a:xfrm>
            <a:off x="548640" y="2331720"/>
            <a:ext cx="8046720" cy="822960"/>
          </a:xfrm>
          <a:prstGeom prst="rect">
            <a:avLst/>
          </a:prstGeom>
          <a:noFill/>
          <a:ln/>
        </p:spPr>
        <p:txBody>
          <a:bodyPr wrap="square" rtlCol="0" anchor="t"/>
          <a:lstStyle/>
          <a:p>
            <a:pPr marL="0" indent="0" algn="ctr">
              <a:buNone/>
            </a:pPr>
            <a:r>
              <a:rPr lang="en-US" sz="2200" b="1" dirty="0">
                <a:solidFill>
                  <a:srgbClr val="C00000"/>
                </a:solidFill>
                <a:latin typeface="Times New Roman" pitchFamily="34" charset="0"/>
                <a:ea typeface="Times New Roman" pitchFamily="34" charset="-122"/>
                <a:cs typeface="Times New Roman" pitchFamily="34" charset="-120"/>
              </a:rPr>
              <a:t>CareerMentor AI: An Autonomous Multilingual AI-Powered</a:t>
            </a:r>
            <a:endParaRPr lang="en-US" sz="2200" dirty="0"/>
          </a:p>
          <a:p>
            <a:pPr marL="0" indent="0" algn="ctr">
              <a:buNone/>
            </a:pPr>
            <a:r>
              <a:rPr lang="en-US" sz="2200" b="1" dirty="0">
                <a:solidFill>
                  <a:srgbClr val="C00000"/>
                </a:solidFill>
                <a:latin typeface="Times New Roman" pitchFamily="34" charset="0"/>
                <a:ea typeface="Times New Roman" pitchFamily="34" charset="-122"/>
                <a:cs typeface="Times New Roman" pitchFamily="34" charset="-120"/>
              </a:rPr>
              <a:t>Career Guidance and Management Agent</a:t>
            </a:r>
            <a:endParaRPr lang="en-US" sz="2200" dirty="0"/>
          </a:p>
        </p:txBody>
      </p:sp>
      <p:sp>
        <p:nvSpPr>
          <p:cNvPr id="11" name="Text 7"/>
          <p:cNvSpPr txBox="1"/>
          <p:nvPr/>
        </p:nvSpPr>
        <p:spPr>
          <a:xfrm>
            <a:off x="548640" y="3429000"/>
            <a:ext cx="8046720" cy="1097280"/>
          </a:xfrm>
          <a:prstGeom prst="rect">
            <a:avLst/>
          </a:prstGeom>
          <a:noFill/>
          <a:ln/>
        </p:spPr>
        <p:txBody>
          <a:bodyPr wrap="square" rtlCol="0" anchor="t"/>
          <a:lstStyle/>
          <a:p>
            <a:pPr marL="0" indent="0" algn="ctr">
              <a:spcAft>
                <a:spcPts val="600"/>
              </a:spcAft>
              <a:buNone/>
            </a:pPr>
            <a:r>
              <a:rPr lang="en-US" sz="2000" b="1" dirty="0">
                <a:solidFill>
                  <a:srgbClr val="000000"/>
                </a:solidFill>
                <a:latin typeface="Times New Roman" pitchFamily="34" charset="0"/>
                <a:ea typeface="Times New Roman" pitchFamily="34" charset="-122"/>
                <a:cs typeface="Times New Roman" pitchFamily="34" charset="-120"/>
              </a:rPr>
              <a:t>Harsh Jha  (20) [EU1256001]</a:t>
            </a:r>
            <a:endParaRPr lang="en-US" sz="2000" b="1" dirty="0"/>
          </a:p>
        </p:txBody>
      </p:sp>
      <p:sp>
        <p:nvSpPr>
          <p:cNvPr id="12" name="Text 8"/>
          <p:cNvSpPr txBox="1"/>
          <p:nvPr/>
        </p:nvSpPr>
        <p:spPr>
          <a:xfrm>
            <a:off x="0" y="4087368"/>
            <a:ext cx="9144000" cy="365760"/>
          </a:xfrm>
          <a:prstGeom prst="rect">
            <a:avLst/>
          </a:prstGeom>
          <a:noFill/>
          <a:ln/>
        </p:spPr>
        <p:txBody>
          <a:bodyPr wrap="square"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09/09/2026</a:t>
            </a:r>
            <a:endParaRPr lang="en-US" sz="1600" dirty="0"/>
          </a:p>
        </p:txBody>
      </p:sp>
      <p:sp>
        <p:nvSpPr>
          <p:cNvPr id="13" name="Shape 9"/>
          <p:cNvSpPr/>
          <p:nvPr/>
        </p:nvSpPr>
        <p:spPr>
          <a:xfrm>
            <a:off x="274320" y="6537960"/>
            <a:ext cx="8595360" cy="0"/>
          </a:xfrm>
          <a:prstGeom prst="line">
            <a:avLst/>
          </a:prstGeom>
          <a:noFill/>
          <a:ln w="28575">
            <a:solidFill>
              <a:srgbClr val="33328F"/>
            </a:solidFill>
            <a:prstDash val="solid"/>
          </a:ln>
        </p:spPr>
      </p:sp>
      <p:sp>
        <p:nvSpPr>
          <p:cNvPr id="14" name="Text 10"/>
          <p:cNvSpPr txBox="1"/>
          <p:nvPr/>
        </p:nvSpPr>
        <p:spPr>
          <a:xfrm>
            <a:off x="8503920" y="6565392"/>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Contents</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2</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12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Introduction</a:t>
            </a:r>
            <a:endParaRPr lang="en-US" sz="1800" dirty="0"/>
          </a:p>
          <a:p>
            <a:pPr marL="685800" lvl="1" indent="-3429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Motivation</a:t>
            </a:r>
            <a:endParaRPr lang="en-US" sz="1800" dirty="0"/>
          </a:p>
          <a:p>
            <a:pPr marL="685800" lvl="1" indent="-3429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Problem Statement</a:t>
            </a:r>
            <a:endParaRPr lang="en-US" sz="1800" dirty="0"/>
          </a:p>
          <a:p>
            <a:pPr marL="685800" lvl="1" indent="-3429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Objectives &amp; Expected Outcomes</a:t>
            </a:r>
            <a:endParaRPr lang="en-US" sz="1800" dirty="0"/>
          </a:p>
          <a:p>
            <a:pPr marL="685800" lvl="1" indent="-3429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Scope</a:t>
            </a:r>
            <a:endParaRPr lang="en-US" sz="1800" dirty="0"/>
          </a:p>
          <a:p>
            <a:pPr marL="342900" indent="-342900">
              <a:spcAft>
                <a:spcPts val="12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Review of Existing Literature</a:t>
            </a:r>
            <a:endParaRPr lang="en-US" sz="1800" dirty="0"/>
          </a:p>
          <a:p>
            <a:pPr marL="342900" indent="-342900">
              <a:spcAft>
                <a:spcPts val="12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Proposed System</a:t>
            </a:r>
            <a:endParaRPr lang="en-US" sz="1800" dirty="0"/>
          </a:p>
          <a:p>
            <a:pPr marL="685800" lvl="1" indent="-3429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Block Diagram of Proposed System</a:t>
            </a:r>
            <a:endParaRPr lang="en-US" sz="1800" dirty="0"/>
          </a:p>
          <a:p>
            <a:pPr marL="342900" indent="-342900">
              <a:spcAft>
                <a:spcPts val="12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Introduction</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3</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Over 1.5 million engineering students graduate annually in India, yet fewer than 20% are considered employable for Tier-1 product roles.</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Tier-2/Tier-3 institutions face acute counseling deficits, with student-to-counselor ratios routinely exceeding 500:1.</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Applicant Tracking Systems (ATS) auto-reject over 75% of resumes before human review due to unquantified achievements, parsing errors, and keyword gaps.</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Career guidance tools remain strictly monolingual in English, creating cognitive friction for regional-language students.</a:t>
            </a:r>
            <a:endParaRPr lang="en-US" sz="1600" dirty="0"/>
          </a:p>
          <a:p>
            <a:pPr marL="342900" indent="-342900">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CareerMentor AI is a 24/7, autonomous, multilingual (English, Hindi, Marathi, Sanskrit) AI agent unifying conversational mentoring, voice input, resume analysis, co-planning, and proactive check-ins.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Motivation</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4</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High attrition in static online learning: rigid 8-hour daily roadmaps ignore lab work and exams, causing 85%+ abandonment.</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No safe space for interview practice: freshers lack a risk-free way to rehearse STAR-based behavioral answers or defend system design trade-offs.</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Severe career-tooling fragmentation: 5+ disconnected utilities (ATS checkers, video playlists, calendars, chatbots) cause fatigue and lost context.</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Linguistic and regional exclusion: most prep resources ignore Hindi/Marathi-speaking regional engineering students.</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Lack of autonomous accountability: passive platforms stay inert until the student logs in, instead of proactively checking in.</a:t>
            </a:r>
            <a:endParaRPr lang="en-US" sz="1500" dirty="0"/>
          </a:p>
          <a:p>
            <a:pPr marL="342900" indent="-342900">
              <a:spcAft>
                <a:spcPts val="9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Need for science-backed focus blocks: customizable 30/45/57/90-minute sessions (57 min = optimal focus block) beat rigid hour-long slots.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Problem Statement</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5</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Engineering undergraduates face severe placement barriers due to ATS-incompatible resumes and career disorientation.</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Preparation paths remain unstructured, with no continuous, accessible, multilingual technical mentorship.</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Existing solutions are fragmented across single-purpose tools, cost-prohibitive, or strictly monolingual.</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Current tools fail to evaluate resumes against quantifiable achievement standards (Google X-Y-Z formula).</a:t>
            </a:r>
            <a:endParaRPr lang="en-US" sz="1600" dirty="0"/>
          </a:p>
          <a:p>
            <a:pPr marL="342900" indent="-342900">
              <a:spcAft>
                <a:spcPts val="14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No dynamic adaptation of study schedules to variable time budgets, multi-session memory, or proactive follow-up exists today.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Objectives &amp; Expected Outcomes</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6</a:t>
            </a:r>
            <a:endParaRPr lang="en-US" sz="1200" dirty="0"/>
          </a:p>
        </p:txBody>
      </p:sp>
      <p:sp>
        <p:nvSpPr>
          <p:cNvPr id="9" name="Text 5"/>
          <p:cNvSpPr txBox="1"/>
          <p:nvPr/>
        </p:nvSpPr>
        <p:spPr>
          <a:xfrm>
            <a:off x="54864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Core Objectives</a:t>
            </a:r>
            <a:endParaRPr lang="en-US" sz="1600" dirty="0"/>
          </a:p>
        </p:txBody>
      </p:sp>
      <p:sp>
        <p:nvSpPr>
          <p:cNvPr id="10" name="Text 6"/>
          <p:cNvSpPr txBox="1"/>
          <p:nvPr/>
        </p:nvSpPr>
        <p:spPr>
          <a:xfrm>
            <a:off x="548640" y="1417320"/>
            <a:ext cx="3931920" cy="47548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Intelligent multi-session conversational mentor with voice input, document analysis, and STAR coaching.</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Algorithmic resume ATS analyzer with PDF/DOCX parsing and Google X-Y-Z rewrites.</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Human + AI collaborative co-planner with workload risk analysis and 1-click optimization.</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Knowledge vault &amp; company compatibility matrix with skill-bridging roadmaps.</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Autonomous background reminder agent with multilingual email check-ins.</a:t>
            </a:r>
            <a:endParaRPr lang="en-US" sz="1250" dirty="0"/>
          </a:p>
        </p:txBody>
      </p:sp>
      <p:sp>
        <p:nvSpPr>
          <p:cNvPr id="11" name="Text 7"/>
          <p:cNvSpPr txBox="1"/>
          <p:nvPr/>
        </p:nvSpPr>
        <p:spPr>
          <a:xfrm>
            <a:off x="470916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Expected Outcomes</a:t>
            </a:r>
            <a:endParaRPr lang="en-US" sz="1600" dirty="0"/>
          </a:p>
        </p:txBody>
      </p:sp>
      <p:sp>
        <p:nvSpPr>
          <p:cNvPr id="12" name="Text 8"/>
          <p:cNvSpPr txBox="1"/>
          <p:nvPr/>
        </p:nvSpPr>
        <p:spPr>
          <a:xfrm>
            <a:off x="4709160" y="1417320"/>
            <a:ext cx="3931920" cy="47548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ATS scores rise from sub-50% to over 85% through quantified metric enforcement.</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Better study-habit adherence via 57-minute science-backed focus budgeting.</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Frictionless multilingual accessibility for tier-2/tier-3 students.</a:t>
            </a:r>
            <a:endParaRPr lang="en-US" sz="1250" dirty="0"/>
          </a:p>
          <a:p>
            <a:pPr marL="342900" indent="-342900">
              <a:spcAft>
                <a:spcPts val="10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Zero-friction access via 1-click demo login and self-healing sessions with zero data loss.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Scope</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7</a:t>
            </a:r>
            <a:endParaRPr lang="en-US" sz="1200" dirty="0"/>
          </a:p>
        </p:txBody>
      </p:sp>
      <p:sp>
        <p:nvSpPr>
          <p:cNvPr id="9" name="Text 5"/>
          <p:cNvSpPr txBox="1"/>
          <p:nvPr/>
        </p:nvSpPr>
        <p:spPr>
          <a:xfrm>
            <a:off x="54864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In-Scope</a:t>
            </a:r>
            <a:endParaRPr lang="en-US" sz="1600" dirty="0"/>
          </a:p>
        </p:txBody>
      </p:sp>
      <p:sp>
        <p:nvSpPr>
          <p:cNvPr id="10" name="Text 6"/>
          <p:cNvSpPr txBox="1"/>
          <p:nvPr/>
        </p:nvSpPr>
        <p:spPr>
          <a:xfrm>
            <a:off x="548640" y="1417320"/>
            <a:ext cx="3931920" cy="47548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Responsive dark SaaS web app: React 19, Tailwind CSS, Vite 6.</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Dual-engine database: PostgreSQL (production) with SQLite3 local fallback.</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Multi-session chat with full CRUD and auto-generated titles.</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Voice (Web Speech API) and document input (.pdf, .docx, .txt, .json, .md).</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4-language localization: English, Hindi, Marathi, Sanskrit.</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Curated weekly roadmaps and interactive SVG donut-chart visualizations.</a:t>
            </a:r>
            <a:endParaRPr lang="en-US" sz="1250" dirty="0"/>
          </a:p>
        </p:txBody>
      </p:sp>
      <p:sp>
        <p:nvSpPr>
          <p:cNvPr id="11" name="Text 7"/>
          <p:cNvSpPr txBox="1"/>
          <p:nvPr/>
        </p:nvSpPr>
        <p:spPr>
          <a:xfrm>
            <a:off x="4709160" y="1097280"/>
            <a:ext cx="3931920" cy="320040"/>
          </a:xfrm>
          <a:prstGeom prst="rect">
            <a:avLst/>
          </a:prstGeom>
          <a:noFill/>
          <a:ln/>
        </p:spPr>
        <p:txBody>
          <a:bodyPr wrap="square" rtlCol="0" anchor="ctr"/>
          <a:lstStyle/>
          <a:p>
            <a:pPr marL="0" indent="0">
              <a:buNone/>
            </a:pPr>
            <a:r>
              <a:rPr lang="en-US" sz="1600" b="1" dirty="0">
                <a:solidFill>
                  <a:srgbClr val="33328F"/>
                </a:solidFill>
                <a:latin typeface="Times New Roman" pitchFamily="34" charset="0"/>
                <a:ea typeface="Times New Roman" pitchFamily="34" charset="-122"/>
                <a:cs typeface="Times New Roman" pitchFamily="34" charset="-120"/>
              </a:rPr>
              <a:t>Out-of-Scope (Future Work)</a:t>
            </a:r>
            <a:endParaRPr lang="en-US" sz="1600" dirty="0"/>
          </a:p>
        </p:txBody>
      </p:sp>
      <p:sp>
        <p:nvSpPr>
          <p:cNvPr id="12" name="Text 8"/>
          <p:cNvSpPr txBox="1"/>
          <p:nvPr/>
        </p:nvSpPr>
        <p:spPr>
          <a:xfrm>
            <a:off x="4709160" y="1417320"/>
            <a:ext cx="3931920" cy="47548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Real-time video facial/posture emotion analysis (planned for Capstone-II).</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Native compiled iOS/Android binaries — this phase ships as a PWA.</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Automated job-board application bots (blocked by ToS/CAPTCHA).</a:t>
            </a:r>
            <a:endParaRPr lang="en-US" sz="1250" dirty="0"/>
          </a:p>
          <a:p>
            <a:pPr marL="342900" indent="-342900">
              <a:spcAft>
                <a:spcPts val="9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Human peer-to-peer mock interview pairing.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48508"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Review of Existing Literature</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8</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2743200"/>
        </p:xfrm>
        <a:graphic>
          <a:graphicData uri="http://schemas.openxmlformats.org/drawingml/2006/table">
            <a:tbl>
              <a:tblPr/>
              <a:tblGrid>
                <a:gridCol w="548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85800">
                <a:tc>
                  <a:txBody>
                    <a:bodyPr/>
                    <a:lstStyle/>
                    <a:p>
                      <a:pPr marL="0" indent="0">
                        <a:buNone/>
                      </a:pPr>
                      <a:r>
                        <a:rPr lang="en-US" sz="1100" b="1" dirty="0">
                          <a:solidFill>
                            <a:srgbClr val="FFFFFF"/>
                          </a:solidFill>
                          <a:latin typeface="Arial" pitchFamily="34" charset="0"/>
                          <a:ea typeface="Arial" pitchFamily="34" charset="-122"/>
                          <a:cs typeface="Arial" pitchFamily="34" charset="-120"/>
                        </a:rPr>
                        <a:t>Sr. No.</a:t>
                      </a:r>
                      <a:endParaRPr lang="en-US" sz="110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328F"/>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Paper Title [Ref.]</a:t>
                      </a:r>
                      <a:endParaRPr lang="en-US" sz="110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328F"/>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Author(s)</a:t>
                      </a:r>
                      <a:endParaRPr lang="en-US" sz="110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328F"/>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Conclusion</a:t>
                      </a:r>
                      <a:endParaRPr lang="en-US" sz="110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328F"/>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Research Gap</a:t>
                      </a:r>
                      <a:endParaRPr lang="en-US" sz="110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328F"/>
                    </a:solidFill>
                  </a:tcPr>
                </a:tc>
                <a:extLst>
                  <a:ext uri="{0D108BD9-81ED-4DB2-BD59-A6C34878D82A}">
                    <a16:rowId xmlns:a16="http://schemas.microsoft.com/office/drawing/2014/main" val="10000"/>
                  </a:ext>
                </a:extLst>
              </a:tr>
              <a:tr h="685800">
                <a:tc>
                  <a:txBody>
                    <a:bodyPr/>
                    <a:lstStyle/>
                    <a:p>
                      <a:pPr marL="0" indent="0">
                        <a:buNone/>
                      </a:pPr>
                      <a:r>
                        <a:rPr lang="en-US" sz="1050" dirty="0">
                          <a:solidFill>
                            <a:srgbClr val="000000"/>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Automated Resume Screening using NLP [1]</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Roy et al., IEEE ICCCNT, 2022</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Token-stream parsing achieved 88.4% skill-extraction accuracy.</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Only passive match scores; no Google X-Y-Z achievement evaluation.</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050" dirty="0">
                          <a:solidFill>
                            <a:srgbClr val="000000"/>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Conversational AI Tutors for Career Counselling [2]</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Griffiths &amp; Chen, ACM, 2023</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STAR-structured mock interviews reduce candidate anxiety.</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No persistent multi-session memory or voice/document input.</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050" dirty="0">
                          <a:solidFill>
                            <a:srgbClr val="000000"/>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Adaptive Scheduling for Student Learning Paths [3]</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Zhang et al., Springer, 2021</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Dynamic task recalibration lifts completion rate by 54% vs. rigid schedules.</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No automated workload risk / pros-cons plan analysis.</a:t>
                      </a:r>
                      <a:endParaRPr lang="en-US" sz="1050" dirty="0">
                        <a:latin typeface="Arial" charset="0"/>
                        <a:ea typeface="Arial" charset="0"/>
                        <a:cs typeface="Arial"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5"/>
          <p:cNvSpPr txBox="1"/>
          <p:nvPr/>
        </p:nvSpPr>
        <p:spPr>
          <a:xfrm>
            <a:off x="457200" y="4160520"/>
            <a:ext cx="8229600" cy="822960"/>
          </a:xfrm>
          <a:prstGeom prst="rect">
            <a:avLst/>
          </a:prstGeom>
          <a:noFill/>
          <a:ln/>
        </p:spPr>
        <p:txBody>
          <a:bodyPr wrap="square" rtlCol="0" anchor="ctr"/>
          <a:lstStyle/>
          <a:p>
            <a:pPr marL="0" indent="0">
              <a:buNone/>
            </a:pPr>
            <a:r>
              <a:rPr lang="en-US" sz="1150" i="1" dirty="0">
                <a:solidFill>
                  <a:srgbClr val="404040"/>
                </a:solidFill>
                <a:latin typeface="Times New Roman" pitchFamily="34" charset="0"/>
                <a:ea typeface="Times New Roman" pitchFamily="34" charset="-122"/>
                <a:cs typeface="Times New Roman" pitchFamily="34" charset="-120"/>
              </a:rPr>
              <a:t>Note: Department guidelines call for 8–10 surveyed papers with one base paper. The three studies above are detailed as base literature (see next 3 slides); additional papers are to be appended per the final report.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Title of Literature Survey 1</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9</a:t>
            </a:r>
            <a:endParaRPr lang="en-US" sz="1200" dirty="0"/>
          </a:p>
        </p:txBody>
      </p:sp>
      <p:sp>
        <p:nvSpPr>
          <p:cNvPr id="9" name="Text 5"/>
          <p:cNvSpPr txBox="1"/>
          <p:nvPr/>
        </p:nvSpPr>
        <p:spPr>
          <a:xfrm>
            <a:off x="548640" y="1051560"/>
            <a:ext cx="8046720" cy="457200"/>
          </a:xfrm>
          <a:prstGeom prst="rect">
            <a:avLst/>
          </a:prstGeom>
          <a:noFill/>
          <a:ln/>
        </p:spPr>
        <p:txBody>
          <a:bodyPr wrap="square" rtlCol="0" anchor="ctr"/>
          <a:lstStyle/>
          <a:p>
            <a:pPr marL="0" indent="0">
              <a:buNone/>
            </a:pPr>
            <a:r>
              <a:rPr lang="en-US" sz="1500" i="1" dirty="0">
                <a:solidFill>
                  <a:srgbClr val="33328F"/>
                </a:solidFill>
                <a:latin typeface="Times New Roman" pitchFamily="34" charset="0"/>
                <a:ea typeface="Times New Roman" pitchFamily="34" charset="-122"/>
                <a:cs typeface="Times New Roman" pitchFamily="34" charset="-120"/>
              </a:rPr>
              <a:t>Automated Resume Screening using NLP — Roy et al., IEEE ICCCNT, 2022 (Base Paper)</a:t>
            </a:r>
            <a:endParaRPr lang="en-US" sz="1500" dirty="0"/>
          </a:p>
        </p:txBody>
      </p:sp>
      <p:sp>
        <p:nvSpPr>
          <p:cNvPr id="10" name="Text 6"/>
          <p:cNvSpPr txBox="1"/>
          <p:nvPr/>
        </p:nvSpPr>
        <p:spPr>
          <a:xfrm>
            <a:off x="548640" y="1600200"/>
            <a:ext cx="8046720" cy="51206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Applied token-stream parsing to extract candidate skills from resumes, achieving 88.4% skill-extraction accuracy.</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Generated only passive resume-to-job-description match scores.</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Did not evaluate resumes against quantified achievement metrics such as the Google X-Y-Z formula.</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Research gap addressed: CareerMentor AI's Resume ATS Analyzer scores achievements with the X-Y-Z formula and produces line-by-line rewrite suggestions.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Title of Literature Survey 2</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10</a:t>
            </a:r>
            <a:endParaRPr lang="en-US" sz="1200" dirty="0"/>
          </a:p>
        </p:txBody>
      </p:sp>
      <p:sp>
        <p:nvSpPr>
          <p:cNvPr id="9" name="Text 5"/>
          <p:cNvSpPr txBox="1"/>
          <p:nvPr/>
        </p:nvSpPr>
        <p:spPr>
          <a:xfrm>
            <a:off x="548640" y="1051560"/>
            <a:ext cx="8046720" cy="457200"/>
          </a:xfrm>
          <a:prstGeom prst="rect">
            <a:avLst/>
          </a:prstGeom>
          <a:noFill/>
          <a:ln/>
        </p:spPr>
        <p:txBody>
          <a:bodyPr wrap="square" rtlCol="0" anchor="ctr"/>
          <a:lstStyle/>
          <a:p>
            <a:pPr marL="0" indent="0">
              <a:buNone/>
            </a:pPr>
            <a:r>
              <a:rPr lang="en-US" sz="1500" i="1" dirty="0">
                <a:solidFill>
                  <a:srgbClr val="33328F"/>
                </a:solidFill>
                <a:latin typeface="Times New Roman" pitchFamily="34" charset="0"/>
                <a:ea typeface="Times New Roman" pitchFamily="34" charset="-122"/>
                <a:cs typeface="Times New Roman" pitchFamily="34" charset="-120"/>
              </a:rPr>
              <a:t>Conversational AI Tutors for Career Counselling — Griffiths &amp; Chen, ACM, 2023</a:t>
            </a:r>
            <a:endParaRPr lang="en-US" sz="1500" dirty="0"/>
          </a:p>
        </p:txBody>
      </p:sp>
      <p:sp>
        <p:nvSpPr>
          <p:cNvPr id="10" name="Text 6"/>
          <p:cNvSpPr txBox="1"/>
          <p:nvPr/>
        </p:nvSpPr>
        <p:spPr>
          <a:xfrm>
            <a:off x="548640" y="1600200"/>
            <a:ext cx="8046720" cy="51206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Demonstrated that mock interviews structured around the STAR method reduce candidate anxiety.</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Surveyed systems lacked persistent multi-session memory across conversations.</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No support for audio (voice) input or document attachments.</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Research gap addressed: CareerMentor AI implements database-backed multi-session chat with Web Speech API voice transcription and document attachments.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Title of Literature Survey 3</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11</a:t>
            </a:r>
            <a:endParaRPr lang="en-US" sz="1200" dirty="0"/>
          </a:p>
        </p:txBody>
      </p:sp>
      <p:sp>
        <p:nvSpPr>
          <p:cNvPr id="9" name="Text 5"/>
          <p:cNvSpPr txBox="1"/>
          <p:nvPr/>
        </p:nvSpPr>
        <p:spPr>
          <a:xfrm>
            <a:off x="548640" y="1051560"/>
            <a:ext cx="8046720" cy="457200"/>
          </a:xfrm>
          <a:prstGeom prst="rect">
            <a:avLst/>
          </a:prstGeom>
          <a:noFill/>
          <a:ln/>
        </p:spPr>
        <p:txBody>
          <a:bodyPr wrap="square" rtlCol="0" anchor="ctr"/>
          <a:lstStyle/>
          <a:p>
            <a:pPr marL="0" indent="0">
              <a:buNone/>
            </a:pPr>
            <a:r>
              <a:rPr lang="en-US" sz="1500" i="1" dirty="0">
                <a:solidFill>
                  <a:srgbClr val="33328F"/>
                </a:solidFill>
                <a:latin typeface="Times New Roman" pitchFamily="34" charset="0"/>
                <a:ea typeface="Times New Roman" pitchFamily="34" charset="-122"/>
                <a:cs typeface="Times New Roman" pitchFamily="34" charset="-120"/>
              </a:rPr>
              <a:t>Adaptive Scheduling for Student Learning Paths — Zhang et al., Springer, 2021</a:t>
            </a:r>
            <a:endParaRPr lang="en-US" sz="1500" dirty="0"/>
          </a:p>
        </p:txBody>
      </p:sp>
      <p:sp>
        <p:nvSpPr>
          <p:cNvPr id="10" name="Text 6"/>
          <p:cNvSpPr txBox="1"/>
          <p:nvPr/>
        </p:nvSpPr>
        <p:spPr>
          <a:xfrm>
            <a:off x="548640" y="1600200"/>
            <a:ext cx="8046720" cy="51206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Found that rigid, fixed study schedules cause severe student abandonment during exam periods.</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Showed dynamic task recalibration increases curriculum completion rates by 54%.</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Did not provide an automated way to analyze workload pros/cons before recalibrating.</a:t>
            </a:r>
            <a:endParaRPr lang="en-US" sz="1550" dirty="0"/>
          </a:p>
          <a:p>
            <a:pPr marL="342900" indent="-342900">
              <a:spcAft>
                <a:spcPts val="12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Research gap addressed: CareerMentor AI applies science-backed 57-minute focus blocks with an automated Plan Analyzer.</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Proposed System</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12</a:t>
            </a:r>
            <a:endParaRPr lang="en-US" sz="1200" dirty="0"/>
          </a:p>
        </p:txBody>
      </p:sp>
      <p:sp>
        <p:nvSpPr>
          <p:cNvPr id="9" name="Text 5"/>
          <p:cNvSpPr txBox="1"/>
          <p:nvPr/>
        </p:nvSpPr>
        <p:spPr>
          <a:xfrm>
            <a:off x="457200" y="1005840"/>
            <a:ext cx="8229600" cy="457200"/>
          </a:xfrm>
          <a:prstGeom prst="rect">
            <a:avLst/>
          </a:prstGeom>
          <a:noFill/>
          <a:ln/>
        </p:spPr>
        <p:txBody>
          <a:bodyPr wrap="square" rtlCol="0" anchor="ctr"/>
          <a:lstStyle/>
          <a:p>
            <a:pPr marL="0" indent="0">
              <a:buNone/>
            </a:pPr>
            <a:r>
              <a:rPr lang="en-US" sz="1300" dirty="0">
                <a:solidFill>
                  <a:srgbClr val="404040"/>
                </a:solidFill>
                <a:latin typeface="Times New Roman" pitchFamily="34" charset="0"/>
                <a:ea typeface="Times New Roman" pitchFamily="34" charset="-122"/>
                <a:cs typeface="Times New Roman" pitchFamily="34" charset="-120"/>
              </a:rPr>
              <a:t>After identifying that existing tools give only passive scores and rigid schedules, CareerMentor AI proposes a three-tier autonomous architecture (Fig. 1).</a:t>
            </a:r>
            <a:endParaRPr lang="en-US" sz="1300" dirty="0"/>
          </a:p>
        </p:txBody>
      </p:sp>
      <p:sp>
        <p:nvSpPr>
          <p:cNvPr id="10" name="Shape 6"/>
          <p:cNvSpPr/>
          <p:nvPr/>
        </p:nvSpPr>
        <p:spPr>
          <a:xfrm>
            <a:off x="548640" y="1600200"/>
            <a:ext cx="8046720" cy="777240"/>
          </a:xfrm>
          <a:prstGeom prst="roundRect">
            <a:avLst>
              <a:gd name="adj" fmla="val 7059"/>
            </a:avLst>
          </a:prstGeom>
          <a:solidFill>
            <a:srgbClr val="E8EAF6"/>
          </a:solidFill>
          <a:ln w="15875">
            <a:solidFill>
              <a:srgbClr val="33328F"/>
            </a:solidFill>
            <a:prstDash val="solid"/>
          </a:ln>
        </p:spPr>
      </p:sp>
      <p:sp>
        <p:nvSpPr>
          <p:cNvPr id="11" name="Text 7"/>
          <p:cNvSpPr txBox="1"/>
          <p:nvPr/>
        </p:nvSpPr>
        <p:spPr>
          <a:xfrm>
            <a:off x="685800" y="1645920"/>
            <a:ext cx="7772400" cy="685800"/>
          </a:xfrm>
          <a:prstGeom prst="rect">
            <a:avLst/>
          </a:prstGeom>
          <a:noFill/>
          <a:ln/>
        </p:spPr>
        <p:txBody>
          <a:bodyPr wrap="square" lIns="0" tIns="0" rIns="0" bIns="0" rtlCol="0" anchor="ctr"/>
          <a:lstStyle/>
          <a:p>
            <a:pPr marL="0" indent="0">
              <a:buNone/>
            </a:pPr>
            <a:r>
              <a:rPr lang="en-US" sz="1300" b="1" dirty="0">
                <a:solidFill>
                  <a:srgbClr val="000000"/>
                </a:solidFill>
                <a:latin typeface="Arial" pitchFamily="34" charset="0"/>
                <a:ea typeface="Arial" pitchFamily="34" charset="-122"/>
                <a:cs typeface="Arial" pitchFamily="34" charset="-120"/>
              </a:rPr>
              <a:t>Presentation Layer (PIBU)  —  React 19 UI</a:t>
            </a:r>
            <a:endParaRPr lang="en-US" sz="1300" dirty="0"/>
          </a:p>
          <a:p>
            <a:pPr marL="0" indent="0">
              <a:buNone/>
            </a:pPr>
            <a:r>
              <a:rPr lang="en-US" sz="1050" dirty="0">
                <a:solidFill>
                  <a:srgbClr val="404040"/>
                </a:solidFill>
                <a:latin typeface="Arial" pitchFamily="34" charset="0"/>
                <a:ea typeface="Arial" pitchFamily="34" charset="-122"/>
                <a:cs typeface="Arial" pitchFamily="34" charset="-120"/>
              </a:rPr>
              <a:t>Web Speech API voice input  •  Document upload (📎)  •  i18n: EN / HI / MR / SA</a:t>
            </a:r>
            <a:endParaRPr lang="en-US" sz="1300" dirty="0"/>
          </a:p>
        </p:txBody>
      </p:sp>
      <p:sp>
        <p:nvSpPr>
          <p:cNvPr id="12" name="Shape 8"/>
          <p:cNvSpPr/>
          <p:nvPr/>
        </p:nvSpPr>
        <p:spPr>
          <a:xfrm>
            <a:off x="4343400" y="2377440"/>
            <a:ext cx="274320" cy="256032"/>
          </a:xfrm>
          <a:prstGeom prst="downArrow">
            <a:avLst/>
          </a:prstGeom>
          <a:solidFill>
            <a:srgbClr val="33328F"/>
          </a:solidFill>
          <a:ln w="12700">
            <a:solidFill>
              <a:srgbClr val="33328F"/>
            </a:solidFill>
            <a:prstDash val="solid"/>
          </a:ln>
        </p:spPr>
      </p:sp>
      <p:sp>
        <p:nvSpPr>
          <p:cNvPr id="13" name="Text 9"/>
          <p:cNvSpPr txBox="1"/>
          <p:nvPr/>
        </p:nvSpPr>
        <p:spPr>
          <a:xfrm>
            <a:off x="4709160" y="2359152"/>
            <a:ext cx="2011680" cy="274320"/>
          </a:xfrm>
          <a:prstGeom prst="rect">
            <a:avLst/>
          </a:prstGeom>
          <a:noFill/>
          <a:ln/>
        </p:spPr>
        <p:txBody>
          <a:bodyPr wrap="square" rtlCol="0" anchor="ctr"/>
          <a:lstStyle/>
          <a:p>
            <a:pPr marL="0" indent="0">
              <a:buNone/>
            </a:pPr>
            <a:r>
              <a:rPr lang="en-US" sz="950" i="1" dirty="0">
                <a:solidFill>
                  <a:srgbClr val="33328F"/>
                </a:solidFill>
                <a:latin typeface="Arial" pitchFamily="34" charset="0"/>
                <a:ea typeface="Arial" pitchFamily="34" charset="-122"/>
                <a:cs typeface="Arial" pitchFamily="34" charset="-120"/>
              </a:rPr>
              <a:t>REST + JWT Bearer</a:t>
            </a:r>
            <a:endParaRPr lang="en-US" sz="950" dirty="0"/>
          </a:p>
        </p:txBody>
      </p:sp>
      <p:sp>
        <p:nvSpPr>
          <p:cNvPr id="14" name="Shape 10"/>
          <p:cNvSpPr/>
          <p:nvPr/>
        </p:nvSpPr>
        <p:spPr>
          <a:xfrm>
            <a:off x="548640" y="2651760"/>
            <a:ext cx="8046720" cy="1965960"/>
          </a:xfrm>
          <a:prstGeom prst="roundRect">
            <a:avLst>
              <a:gd name="adj" fmla="val 2791"/>
            </a:avLst>
          </a:prstGeom>
          <a:solidFill>
            <a:srgbClr val="DCE3F0"/>
          </a:solidFill>
          <a:ln w="15875">
            <a:solidFill>
              <a:srgbClr val="33328F"/>
            </a:solidFill>
            <a:prstDash val="solid"/>
          </a:ln>
        </p:spPr>
      </p:sp>
      <p:sp>
        <p:nvSpPr>
          <p:cNvPr id="15" name="Text 11"/>
          <p:cNvSpPr txBox="1"/>
          <p:nvPr/>
        </p:nvSpPr>
        <p:spPr>
          <a:xfrm>
            <a:off x="685800" y="2724912"/>
            <a:ext cx="7772400" cy="274320"/>
          </a:xfrm>
          <a:prstGeom prst="rect">
            <a:avLst/>
          </a:prstGeom>
          <a:noFill/>
          <a:ln/>
        </p:spPr>
        <p:txBody>
          <a:bodyPr wrap="square" rtlCol="0" anchor="ctr"/>
          <a:lstStyle/>
          <a:p>
            <a:pPr marL="0" indent="0">
              <a:buNone/>
            </a:pPr>
            <a:r>
              <a:rPr lang="en-US" sz="1250" b="1" dirty="0">
                <a:solidFill>
                  <a:srgbClr val="000000"/>
                </a:solidFill>
                <a:latin typeface="Arial" pitchFamily="34" charset="0"/>
                <a:ea typeface="Arial" pitchFamily="34" charset="-122"/>
                <a:cs typeface="Arial" pitchFamily="34" charset="-120"/>
              </a:rPr>
              <a:t>Application Processing Layer (APEU) — Express.js / Node.js</a:t>
            </a:r>
            <a:endParaRPr lang="en-US" sz="1250" dirty="0"/>
          </a:p>
        </p:txBody>
      </p:sp>
      <p:sp>
        <p:nvSpPr>
          <p:cNvPr id="16" name="Shape 12"/>
          <p:cNvSpPr/>
          <p:nvPr/>
        </p:nvSpPr>
        <p:spPr>
          <a:xfrm>
            <a:off x="685800" y="3090672"/>
            <a:ext cx="1828800" cy="1417320"/>
          </a:xfrm>
          <a:prstGeom prst="rect">
            <a:avLst/>
          </a:prstGeom>
          <a:solidFill>
            <a:srgbClr val="FFFFFF"/>
          </a:solidFill>
          <a:ln w="12700">
            <a:solidFill>
              <a:srgbClr val="33328F"/>
            </a:solidFill>
            <a:prstDash val="solid"/>
          </a:ln>
        </p:spPr>
      </p:sp>
      <p:sp>
        <p:nvSpPr>
          <p:cNvPr id="17" name="Text 13"/>
          <p:cNvSpPr txBox="1"/>
          <p:nvPr/>
        </p:nvSpPr>
        <p:spPr>
          <a:xfrm>
            <a:off x="685800" y="3127248"/>
            <a:ext cx="1828800" cy="1344168"/>
          </a:xfrm>
          <a:prstGeom prst="rect">
            <a:avLst/>
          </a:prstGeom>
          <a:noFill/>
          <a:ln/>
        </p:spPr>
        <p:txBody>
          <a:bodyPr wrap="square" lIns="25400" tIns="25400" rIns="25400" bIns="25400" rtlCol="0" anchor="ctr"/>
          <a:lstStyle/>
          <a:p>
            <a:pPr marL="0" indent="0" algn="ctr">
              <a:buNone/>
            </a:pPr>
            <a:r>
              <a:rPr lang="en-US" sz="1050" b="1" dirty="0">
                <a:solidFill>
                  <a:srgbClr val="000000"/>
                </a:solidFill>
                <a:latin typeface="Arial" pitchFamily="34" charset="0"/>
                <a:ea typeface="Arial" pitchFamily="34" charset="-122"/>
                <a:cs typeface="Arial" pitchFamily="34" charset="-120"/>
              </a:rPr>
              <a:t>Self-Healing</a:t>
            </a:r>
            <a:endParaRPr lang="en-US" sz="1050" dirty="0"/>
          </a:p>
          <a:p>
            <a:pPr marL="0" indent="0" algn="ctr">
              <a:buNone/>
            </a:pPr>
            <a:r>
              <a:rPr lang="en-US" sz="1050" b="1" dirty="0">
                <a:solidFill>
                  <a:srgbClr val="000000"/>
                </a:solidFill>
                <a:latin typeface="Arial" pitchFamily="34" charset="0"/>
                <a:ea typeface="Arial" pitchFamily="34" charset="-122"/>
                <a:cs typeface="Arial" pitchFamily="34" charset="-120"/>
              </a:rPr>
              <a:t>Auth (JWT)</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Auto-restores user</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on container restart</a:t>
            </a:r>
            <a:endParaRPr lang="en-US" sz="1050" dirty="0"/>
          </a:p>
        </p:txBody>
      </p:sp>
      <p:sp>
        <p:nvSpPr>
          <p:cNvPr id="18" name="Shape 14"/>
          <p:cNvSpPr/>
          <p:nvPr/>
        </p:nvSpPr>
        <p:spPr>
          <a:xfrm>
            <a:off x="2624328" y="3090672"/>
            <a:ext cx="1828800" cy="1417320"/>
          </a:xfrm>
          <a:prstGeom prst="rect">
            <a:avLst/>
          </a:prstGeom>
          <a:solidFill>
            <a:srgbClr val="FFFFFF"/>
          </a:solidFill>
          <a:ln w="12700">
            <a:solidFill>
              <a:srgbClr val="33328F"/>
            </a:solidFill>
            <a:prstDash val="solid"/>
          </a:ln>
        </p:spPr>
      </p:sp>
      <p:sp>
        <p:nvSpPr>
          <p:cNvPr id="19" name="Text 15"/>
          <p:cNvSpPr txBox="1"/>
          <p:nvPr/>
        </p:nvSpPr>
        <p:spPr>
          <a:xfrm>
            <a:off x="2624328" y="3127248"/>
            <a:ext cx="1828800" cy="1344168"/>
          </a:xfrm>
          <a:prstGeom prst="rect">
            <a:avLst/>
          </a:prstGeom>
          <a:noFill/>
          <a:ln/>
        </p:spPr>
        <p:txBody>
          <a:bodyPr wrap="square" lIns="25400" tIns="25400" rIns="25400" bIns="25400" rtlCol="0" anchor="ctr"/>
          <a:lstStyle/>
          <a:p>
            <a:pPr marL="0" indent="0" algn="ctr">
              <a:buNone/>
            </a:pPr>
            <a:r>
              <a:rPr lang="en-US" sz="1050" b="1" dirty="0">
                <a:solidFill>
                  <a:srgbClr val="000000"/>
                </a:solidFill>
                <a:latin typeface="Arial" pitchFamily="34" charset="0"/>
                <a:ea typeface="Arial" pitchFamily="34" charset="-122"/>
                <a:cs typeface="Arial" pitchFamily="34" charset="-120"/>
              </a:rPr>
              <a:t>Document Parsing</a:t>
            </a:r>
            <a:endParaRPr lang="en-US" sz="1050" dirty="0"/>
          </a:p>
          <a:p>
            <a:pPr marL="0" indent="0" algn="ctr">
              <a:buNone/>
            </a:pPr>
            <a:r>
              <a:rPr lang="en-US" sz="1050" b="1" dirty="0">
                <a:solidFill>
                  <a:srgbClr val="000000"/>
                </a:solidFill>
                <a:latin typeface="Arial" pitchFamily="34" charset="0"/>
                <a:ea typeface="Arial" pitchFamily="34" charset="-122"/>
                <a:cs typeface="Arial" pitchFamily="34" charset="-120"/>
              </a:rPr>
              <a:t>(pdf-parse, mammoth)</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Extracts text + runs</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Google X-Y-Z rules</a:t>
            </a:r>
            <a:endParaRPr lang="en-US" sz="1050" dirty="0"/>
          </a:p>
        </p:txBody>
      </p:sp>
      <p:sp>
        <p:nvSpPr>
          <p:cNvPr id="20" name="Shape 16"/>
          <p:cNvSpPr/>
          <p:nvPr/>
        </p:nvSpPr>
        <p:spPr>
          <a:xfrm>
            <a:off x="4562856" y="3090672"/>
            <a:ext cx="1828800" cy="1417320"/>
          </a:xfrm>
          <a:prstGeom prst="rect">
            <a:avLst/>
          </a:prstGeom>
          <a:solidFill>
            <a:srgbClr val="FFFFFF"/>
          </a:solidFill>
          <a:ln w="12700">
            <a:solidFill>
              <a:srgbClr val="33328F"/>
            </a:solidFill>
            <a:prstDash val="solid"/>
          </a:ln>
        </p:spPr>
      </p:sp>
      <p:sp>
        <p:nvSpPr>
          <p:cNvPr id="21" name="Text 17"/>
          <p:cNvSpPr txBox="1"/>
          <p:nvPr/>
        </p:nvSpPr>
        <p:spPr>
          <a:xfrm>
            <a:off x="4562856" y="3127248"/>
            <a:ext cx="1828800" cy="1344168"/>
          </a:xfrm>
          <a:prstGeom prst="rect">
            <a:avLst/>
          </a:prstGeom>
          <a:noFill/>
          <a:ln/>
        </p:spPr>
        <p:txBody>
          <a:bodyPr wrap="square" lIns="25400" tIns="25400" rIns="25400" bIns="25400" rtlCol="0" anchor="ctr"/>
          <a:lstStyle/>
          <a:p>
            <a:pPr marL="0" indent="0" algn="ctr">
              <a:buNone/>
            </a:pPr>
            <a:r>
              <a:rPr lang="en-US" sz="1050" b="1" dirty="0">
                <a:solidFill>
                  <a:srgbClr val="000000"/>
                </a:solidFill>
                <a:latin typeface="Arial" pitchFamily="34" charset="0"/>
                <a:ea typeface="Arial" pitchFamily="34" charset="-122"/>
                <a:cs typeface="Arial" pitchFamily="34" charset="-120"/>
              </a:rPr>
              <a:t>Gemini Reasoning</a:t>
            </a:r>
            <a:endParaRPr lang="en-US" sz="1050" dirty="0"/>
          </a:p>
          <a:p>
            <a:pPr marL="0" indent="0" algn="ctr">
              <a:buNone/>
            </a:pPr>
            <a:r>
              <a:rPr lang="en-US" sz="1050" b="1" dirty="0">
                <a:solidFill>
                  <a:srgbClr val="000000"/>
                </a:solidFill>
                <a:latin typeface="Arial" pitchFamily="34" charset="0"/>
                <a:ea typeface="Arial" pitchFamily="34" charset="-122"/>
                <a:cs typeface="Arial" pitchFamily="34" charset="-120"/>
              </a:rPr>
              <a:t>Engine</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Contextual mentoring,</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ATS scoring</a:t>
            </a:r>
            <a:endParaRPr lang="en-US" sz="1050" dirty="0"/>
          </a:p>
        </p:txBody>
      </p:sp>
      <p:sp>
        <p:nvSpPr>
          <p:cNvPr id="22" name="Shape 18"/>
          <p:cNvSpPr/>
          <p:nvPr/>
        </p:nvSpPr>
        <p:spPr>
          <a:xfrm>
            <a:off x="6501384" y="3090672"/>
            <a:ext cx="1828800" cy="1417320"/>
          </a:xfrm>
          <a:prstGeom prst="rect">
            <a:avLst/>
          </a:prstGeom>
          <a:solidFill>
            <a:srgbClr val="FFFFFF"/>
          </a:solidFill>
          <a:ln w="12700">
            <a:solidFill>
              <a:srgbClr val="33328F"/>
            </a:solidFill>
            <a:prstDash val="solid"/>
          </a:ln>
        </p:spPr>
      </p:sp>
      <p:sp>
        <p:nvSpPr>
          <p:cNvPr id="23" name="Text 19"/>
          <p:cNvSpPr txBox="1"/>
          <p:nvPr/>
        </p:nvSpPr>
        <p:spPr>
          <a:xfrm>
            <a:off x="6501384" y="3127248"/>
            <a:ext cx="1828800" cy="1344168"/>
          </a:xfrm>
          <a:prstGeom prst="rect">
            <a:avLst/>
          </a:prstGeom>
          <a:noFill/>
          <a:ln/>
        </p:spPr>
        <p:txBody>
          <a:bodyPr wrap="square" lIns="25400" tIns="25400" rIns="25400" bIns="25400" rtlCol="0" anchor="ctr"/>
          <a:lstStyle/>
          <a:p>
            <a:pPr marL="0" indent="0" algn="ctr">
              <a:buNone/>
            </a:pPr>
            <a:r>
              <a:rPr lang="en-US" sz="1050" b="1" dirty="0">
                <a:solidFill>
                  <a:srgbClr val="000000"/>
                </a:solidFill>
                <a:latin typeface="Arial" pitchFamily="34" charset="0"/>
                <a:ea typeface="Arial" pitchFamily="34" charset="-122"/>
                <a:cs typeface="Arial" pitchFamily="34" charset="-120"/>
              </a:rPr>
              <a:t>Co-Planner +</a:t>
            </a:r>
            <a:endParaRPr lang="en-US" sz="1050" dirty="0"/>
          </a:p>
          <a:p>
            <a:pPr marL="0" indent="0" algn="ctr">
              <a:buNone/>
            </a:pPr>
            <a:r>
              <a:rPr lang="en-US" sz="1050" b="1" dirty="0">
                <a:solidFill>
                  <a:srgbClr val="000000"/>
                </a:solidFill>
                <a:latin typeface="Arial" pitchFamily="34" charset="0"/>
                <a:ea typeface="Arial" pitchFamily="34" charset="-122"/>
                <a:cs typeface="Arial" pitchFamily="34" charset="-120"/>
              </a:rPr>
              <a:t>Reminder Daemon</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57-min focus split,</a:t>
            </a:r>
            <a:endParaRPr lang="en-US" sz="1050" dirty="0"/>
          </a:p>
          <a:p>
            <a:pPr marL="0" indent="0" algn="ctr">
              <a:buNone/>
            </a:pPr>
            <a:r>
              <a:rPr lang="en-US" sz="870" dirty="0">
                <a:solidFill>
                  <a:srgbClr val="404040"/>
                </a:solidFill>
                <a:latin typeface="Arial" pitchFamily="34" charset="0"/>
                <a:ea typeface="Arial" pitchFamily="34" charset="-122"/>
                <a:cs typeface="Arial" pitchFamily="34" charset="-120"/>
              </a:rPr>
              <a:t>2-hr email check-ins</a:t>
            </a:r>
            <a:endParaRPr lang="en-US" sz="1050" dirty="0"/>
          </a:p>
        </p:txBody>
      </p:sp>
      <p:sp>
        <p:nvSpPr>
          <p:cNvPr id="24" name="Shape 20"/>
          <p:cNvSpPr/>
          <p:nvPr/>
        </p:nvSpPr>
        <p:spPr>
          <a:xfrm>
            <a:off x="4343400" y="4645152"/>
            <a:ext cx="274320" cy="256032"/>
          </a:xfrm>
          <a:prstGeom prst="downArrow">
            <a:avLst/>
          </a:prstGeom>
          <a:solidFill>
            <a:srgbClr val="33328F"/>
          </a:solidFill>
          <a:ln w="12700">
            <a:solidFill>
              <a:srgbClr val="33328F"/>
            </a:solidFill>
            <a:prstDash val="solid"/>
          </a:ln>
        </p:spPr>
      </p:sp>
      <p:sp>
        <p:nvSpPr>
          <p:cNvPr id="25" name="Text 21"/>
          <p:cNvSpPr txBox="1"/>
          <p:nvPr/>
        </p:nvSpPr>
        <p:spPr>
          <a:xfrm>
            <a:off x="4709160" y="4626864"/>
            <a:ext cx="2011680" cy="274320"/>
          </a:xfrm>
          <a:prstGeom prst="rect">
            <a:avLst/>
          </a:prstGeom>
          <a:noFill/>
          <a:ln/>
        </p:spPr>
        <p:txBody>
          <a:bodyPr wrap="square" rtlCol="0" anchor="ctr"/>
          <a:lstStyle/>
          <a:p>
            <a:pPr marL="0" indent="0">
              <a:buNone/>
            </a:pPr>
            <a:r>
              <a:rPr lang="en-US" sz="950" i="1" dirty="0">
                <a:solidFill>
                  <a:srgbClr val="33328F"/>
                </a:solidFill>
                <a:latin typeface="Arial" pitchFamily="34" charset="0"/>
                <a:ea typeface="Arial" pitchFamily="34" charset="-122"/>
                <a:cs typeface="Arial" pitchFamily="34" charset="-120"/>
              </a:rPr>
              <a:t>SQL Read / Write</a:t>
            </a:r>
            <a:endParaRPr lang="en-US" sz="950" dirty="0"/>
          </a:p>
        </p:txBody>
      </p:sp>
      <p:sp>
        <p:nvSpPr>
          <p:cNvPr id="26" name="Shape 22"/>
          <p:cNvSpPr/>
          <p:nvPr/>
        </p:nvSpPr>
        <p:spPr>
          <a:xfrm>
            <a:off x="548640" y="4919472"/>
            <a:ext cx="8046720" cy="777240"/>
          </a:xfrm>
          <a:prstGeom prst="roundRect">
            <a:avLst>
              <a:gd name="adj" fmla="val 7059"/>
            </a:avLst>
          </a:prstGeom>
          <a:solidFill>
            <a:srgbClr val="E8EAF6"/>
          </a:solidFill>
          <a:ln w="15875">
            <a:solidFill>
              <a:srgbClr val="33328F"/>
            </a:solidFill>
            <a:prstDash val="solid"/>
          </a:ln>
        </p:spPr>
      </p:sp>
      <p:sp>
        <p:nvSpPr>
          <p:cNvPr id="27" name="Text 23"/>
          <p:cNvSpPr txBox="1"/>
          <p:nvPr/>
        </p:nvSpPr>
        <p:spPr>
          <a:xfrm>
            <a:off x="685800" y="4965192"/>
            <a:ext cx="7772400" cy="685800"/>
          </a:xfrm>
          <a:prstGeom prst="rect">
            <a:avLst/>
          </a:prstGeom>
          <a:noFill/>
          <a:ln/>
        </p:spPr>
        <p:txBody>
          <a:bodyPr wrap="square" lIns="0" tIns="0" rIns="0" bIns="0" rtlCol="0" anchor="ctr"/>
          <a:lstStyle/>
          <a:p>
            <a:pPr marL="0" indent="0">
              <a:buNone/>
            </a:pPr>
            <a:r>
              <a:rPr lang="en-US" sz="1300" b="1" dirty="0">
                <a:solidFill>
                  <a:srgbClr val="000000"/>
                </a:solidFill>
                <a:latin typeface="Arial" pitchFamily="34" charset="0"/>
                <a:ea typeface="Arial" pitchFamily="34" charset="-122"/>
                <a:cs typeface="Arial" pitchFamily="34" charset="-120"/>
              </a:rPr>
              <a:t>Storage &amp; Persistence Layer (SEU)</a:t>
            </a:r>
            <a:endParaRPr lang="en-US" sz="1300" dirty="0"/>
          </a:p>
          <a:p>
            <a:pPr marL="0" indent="0">
              <a:buNone/>
            </a:pPr>
            <a:r>
              <a:rPr lang="en-US" sz="1050" dirty="0">
                <a:solidFill>
                  <a:srgbClr val="404040"/>
                </a:solidFill>
                <a:latin typeface="Arial" pitchFamily="34" charset="0"/>
                <a:ea typeface="Arial" pitchFamily="34" charset="-122"/>
                <a:cs typeface="Arial" pitchFamily="34" charset="-120"/>
              </a:rPr>
              <a:t>PostgreSQL (Production, Render)   •   SQLite3 (Local Zero-Config Fallback)</a:t>
            </a:r>
            <a:endParaRPr lang="en-US" sz="1300" dirty="0"/>
          </a:p>
        </p:txBody>
      </p:sp>
      <p:sp>
        <p:nvSpPr>
          <p:cNvPr id="28" name="Text 24"/>
          <p:cNvSpPr txBox="1"/>
          <p:nvPr/>
        </p:nvSpPr>
        <p:spPr>
          <a:xfrm>
            <a:off x="0" y="5806440"/>
            <a:ext cx="9144000" cy="320040"/>
          </a:xfrm>
          <a:prstGeom prst="rect">
            <a:avLst/>
          </a:prstGeom>
          <a:noFill/>
          <a:ln/>
        </p:spPr>
        <p:txBody>
          <a:bodyPr wrap="square" rtlCol="0" anchor="ctr"/>
          <a:lstStyle/>
          <a:p>
            <a:pPr marL="0" indent="0" algn="ctr">
              <a:buNone/>
            </a:pPr>
            <a:r>
              <a:rPr lang="en-US" sz="1250" b="1" i="1" dirty="0">
                <a:solidFill>
                  <a:srgbClr val="000000"/>
                </a:solidFill>
                <a:latin typeface="Times New Roman" pitchFamily="34" charset="0"/>
                <a:ea typeface="Times New Roman" pitchFamily="34" charset="-122"/>
                <a:cs typeface="Times New Roman" pitchFamily="34" charset="-120"/>
              </a:rPr>
              <a:t>Fig. 1: Block diagram of the proposed system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201168"/>
            <a:ext cx="8412480" cy="59436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References</a:t>
            </a:r>
            <a:endParaRPr lang="en-US" sz="2800" dirty="0"/>
          </a:p>
        </p:txBody>
      </p:sp>
      <p:sp>
        <p:nvSpPr>
          <p:cNvPr id="3" name="Shape 1"/>
          <p:cNvSpPr/>
          <p:nvPr/>
        </p:nvSpPr>
        <p:spPr>
          <a:xfrm>
            <a:off x="320040" y="868680"/>
            <a:ext cx="8503920" cy="0"/>
          </a:xfrm>
          <a:prstGeom prst="line">
            <a:avLst/>
          </a:prstGeom>
          <a:noFill/>
          <a:ln w="28575">
            <a:solidFill>
              <a:srgbClr val="33328F"/>
            </a:solidFill>
            <a:prstDash val="solid"/>
          </a:ln>
        </p:spPr>
      </p:sp>
      <p:sp>
        <p:nvSpPr>
          <p:cNvPr id="4" name="Shape 2"/>
          <p:cNvSpPr/>
          <p:nvPr/>
        </p:nvSpPr>
        <p:spPr>
          <a:xfrm>
            <a:off x="365760" y="6473952"/>
            <a:ext cx="8412480" cy="0"/>
          </a:xfrm>
          <a:prstGeom prst="line">
            <a:avLst/>
          </a:prstGeom>
          <a:noFill/>
          <a:ln w="19050">
            <a:solidFill>
              <a:srgbClr val="33328F"/>
            </a:solidFill>
            <a:prstDash val="solid"/>
          </a:ln>
        </p:spPr>
      </p:sp>
      <p:pic>
        <p:nvPicPr>
          <p:cNvPr id="5"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6" name="Text 3"/>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7" name="Text 4"/>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13</a:t>
            </a:r>
            <a:endParaRPr lang="en-US" sz="1200" dirty="0"/>
          </a:p>
        </p:txBody>
      </p:sp>
      <p:sp>
        <p:nvSpPr>
          <p:cNvPr id="9" name="Text 5"/>
          <p:cNvSpPr txBox="1"/>
          <p:nvPr/>
        </p:nvSpPr>
        <p:spPr>
          <a:xfrm>
            <a:off x="548640" y="1143000"/>
            <a:ext cx="8046720" cy="5120640"/>
          </a:xfrm>
          <a:prstGeom prst="rect">
            <a:avLst/>
          </a:prstGeom>
          <a:noFill/>
          <a:ln/>
        </p:spPr>
        <p:txBody>
          <a:bodyPr wrap="square" lIns="0" tIns="0" rIns="0" bIns="0" rtlCol="0" anchor="t"/>
          <a:lstStyle/>
          <a:p>
            <a:pPr marL="0" indent="0">
              <a:spcAft>
                <a:spcPts val="1600"/>
              </a:spcAft>
              <a:buNone/>
            </a:pPr>
            <a:r>
              <a:rPr lang="en-US" sz="1350" dirty="0">
                <a:solidFill>
                  <a:srgbClr val="000000"/>
                </a:solidFill>
                <a:latin typeface="Times New Roman" pitchFamily="34" charset="0"/>
                <a:ea typeface="Times New Roman" pitchFamily="34" charset="-122"/>
                <a:cs typeface="Times New Roman" pitchFamily="34" charset="-120"/>
              </a:rPr>
              <a:t>[1] A. Roy et al., "Automated resume screening using NLP," in Proc. IEEE ICCCNT, 2022.</a:t>
            </a:r>
            <a:endParaRPr lang="en-US" sz="1350" dirty="0"/>
          </a:p>
          <a:p>
            <a:pPr marL="0" indent="0">
              <a:spcAft>
                <a:spcPts val="1600"/>
              </a:spcAft>
              <a:buNone/>
            </a:pPr>
            <a:r>
              <a:rPr lang="en-US" sz="1350" dirty="0">
                <a:solidFill>
                  <a:srgbClr val="000000"/>
                </a:solidFill>
                <a:latin typeface="Times New Roman" pitchFamily="34" charset="0"/>
                <a:ea typeface="Times New Roman" pitchFamily="34" charset="-122"/>
                <a:cs typeface="Times New Roman" pitchFamily="34" charset="-120"/>
              </a:rPr>
              <a:t>[2] J. Griffiths and L. Chen, "Conversational AI tutors for career counselling," in Proc. ACM Conf. on Learning Analytics, 2023.</a:t>
            </a:r>
            <a:endParaRPr lang="en-US" sz="1350" dirty="0"/>
          </a:p>
          <a:p>
            <a:pPr marL="0" indent="0">
              <a:spcAft>
                <a:spcPts val="1600"/>
              </a:spcAft>
              <a:buNone/>
            </a:pPr>
            <a:r>
              <a:rPr lang="en-US" sz="1350" dirty="0">
                <a:solidFill>
                  <a:srgbClr val="000000"/>
                </a:solidFill>
                <a:latin typeface="Times New Roman" pitchFamily="34" charset="0"/>
                <a:ea typeface="Times New Roman" pitchFamily="34" charset="-122"/>
                <a:cs typeface="Times New Roman" pitchFamily="34" charset="-120"/>
              </a:rPr>
              <a:t>[3] H. Zhang et al., "Adaptive scheduling for student learning paths," in Proc. Springer Int. Conf. on Educational Technology, 2021.</a:t>
            </a:r>
            <a:endParaRPr lang="en-US" sz="1350" dirty="0"/>
          </a:p>
          <a:p>
            <a:pPr marL="0" indent="0">
              <a:spcAft>
                <a:spcPts val="1600"/>
              </a:spcAft>
              <a:buNone/>
            </a:pPr>
            <a:r>
              <a:rPr lang="en-US" sz="1350" dirty="0">
                <a:solidFill>
                  <a:srgbClr val="000000"/>
                </a:solidFill>
                <a:latin typeface="Times New Roman" pitchFamily="34" charset="0"/>
                <a:ea typeface="Times New Roman" pitchFamily="34" charset="-122"/>
                <a:cs typeface="Times New Roman" pitchFamily="34" charset="-120"/>
              </a:rPr>
              <a:t>[4] Google Careers Team, "Write resume accomplishments using the X-Y-Z formula," Google Careers Blog, 2023.</a:t>
            </a:r>
            <a:endParaRPr lang="en-US" sz="1350" dirty="0"/>
          </a:p>
          <a:p>
            <a:pPr marL="0" indent="0">
              <a:spcAft>
                <a:spcPts val="1600"/>
              </a:spcAft>
              <a:buNone/>
            </a:pPr>
            <a:r>
              <a:rPr lang="en-US" sz="1350" dirty="0">
                <a:solidFill>
                  <a:srgbClr val="000000"/>
                </a:solidFill>
                <a:latin typeface="Times New Roman" pitchFamily="34" charset="0"/>
                <a:ea typeface="Times New Roman" pitchFamily="34" charset="-122"/>
                <a:cs typeface="Times New Roman" pitchFamily="34" charset="-120"/>
              </a:rPr>
              <a:t>[5] Meta Open Source, "React 19 release notes," React documentation, 2024.</a:t>
            </a:r>
            <a:endParaRPr lang="en-US" sz="1350" dirty="0"/>
          </a:p>
          <a:p>
            <a:pPr marL="0" indent="0">
              <a:spcAft>
                <a:spcPts val="1600"/>
              </a:spcAft>
              <a:buNone/>
            </a:pPr>
            <a:r>
              <a:rPr lang="en-US" sz="1350" dirty="0">
                <a:solidFill>
                  <a:srgbClr val="000000"/>
                </a:solidFill>
                <a:latin typeface="Times New Roman" pitchFamily="34" charset="0"/>
                <a:ea typeface="Times New Roman" pitchFamily="34" charset="-122"/>
                <a:cs typeface="Times New Roman" pitchFamily="34" charset="-120"/>
              </a:rPr>
              <a:t>[6] Google AI, "Gemini API documentation," Google for Developers, 2024.</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2834640"/>
            <a:ext cx="9144000" cy="1097280"/>
          </a:xfrm>
          <a:prstGeom prst="rect">
            <a:avLst/>
          </a:prstGeom>
          <a:noFill/>
          <a:ln/>
        </p:spPr>
        <p:txBody>
          <a:bodyPr wrap="square" rtlCol="0" anchor="ctr"/>
          <a:lstStyle/>
          <a:p>
            <a:pPr marL="0" indent="0" algn="ctr">
              <a:buNone/>
            </a:pPr>
            <a:r>
              <a:rPr lang="en-US" sz="4000" b="1" dirty="0">
                <a:solidFill>
                  <a:srgbClr val="000000"/>
                </a:solidFill>
                <a:latin typeface="Times New Roman" pitchFamily="34" charset="0"/>
                <a:ea typeface="Times New Roman" pitchFamily="34" charset="-122"/>
                <a:cs typeface="Times New Roman" pitchFamily="34" charset="-120"/>
              </a:rPr>
              <a:t>Thank You !!!</a:t>
            </a:r>
            <a:endParaRPr lang="en-US" sz="4000" dirty="0"/>
          </a:p>
        </p:txBody>
      </p:sp>
      <p:sp>
        <p:nvSpPr>
          <p:cNvPr id="3" name="Shape 1"/>
          <p:cNvSpPr/>
          <p:nvPr/>
        </p:nvSpPr>
        <p:spPr>
          <a:xfrm>
            <a:off x="365760" y="6473952"/>
            <a:ext cx="8412480" cy="0"/>
          </a:xfrm>
          <a:prstGeom prst="line">
            <a:avLst/>
          </a:prstGeom>
          <a:noFill/>
          <a:ln w="19050">
            <a:solidFill>
              <a:srgbClr val="33328F"/>
            </a:solidFill>
            <a:prstDash val="solid"/>
          </a:ln>
        </p:spPr>
      </p:sp>
      <p:pic>
        <p:nvPicPr>
          <p:cNvPr id="4"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5" name="Text 2"/>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6" name="Text 3"/>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2834640"/>
            <a:ext cx="9144000" cy="1097280"/>
          </a:xfrm>
          <a:prstGeom prst="rect">
            <a:avLst/>
          </a:prstGeom>
          <a:noFill/>
          <a:ln/>
        </p:spPr>
        <p:txBody>
          <a:bodyPr wrap="square" rtlCol="0" anchor="ctr"/>
          <a:lstStyle/>
          <a:p>
            <a:pPr marL="0" indent="0" algn="ctr">
              <a:buNone/>
            </a:pPr>
            <a:r>
              <a:rPr lang="en-US" sz="4000" b="1" dirty="0">
                <a:solidFill>
                  <a:srgbClr val="000000"/>
                </a:solidFill>
                <a:latin typeface="Times New Roman" pitchFamily="34" charset="0"/>
                <a:ea typeface="Times New Roman" pitchFamily="34" charset="-122"/>
                <a:cs typeface="Times New Roman" pitchFamily="34" charset="-120"/>
              </a:rPr>
              <a:t>Q &amp; A</a:t>
            </a:r>
            <a:endParaRPr lang="en-US" sz="4000" dirty="0"/>
          </a:p>
        </p:txBody>
      </p:sp>
      <p:sp>
        <p:nvSpPr>
          <p:cNvPr id="3" name="Shape 1"/>
          <p:cNvSpPr/>
          <p:nvPr/>
        </p:nvSpPr>
        <p:spPr>
          <a:xfrm>
            <a:off x="365760" y="6473952"/>
            <a:ext cx="8412480" cy="0"/>
          </a:xfrm>
          <a:prstGeom prst="line">
            <a:avLst/>
          </a:prstGeom>
          <a:noFill/>
          <a:ln w="19050">
            <a:solidFill>
              <a:srgbClr val="33328F"/>
            </a:solidFill>
            <a:prstDash val="solid"/>
          </a:ln>
        </p:spPr>
      </p:sp>
      <p:pic>
        <p:nvPicPr>
          <p:cNvPr id="4" name="Image 0" descr="/home/claude/work/college_logo.jpg"/>
          <p:cNvPicPr>
            <a:picLocks noChangeAspect="1"/>
          </p:cNvPicPr>
          <p:nvPr/>
        </p:nvPicPr>
        <p:blipFill>
          <a:blip r:embed="rId3"/>
          <a:stretch>
            <a:fillRect/>
          </a:stretch>
        </p:blipFill>
        <p:spPr>
          <a:xfrm>
            <a:off x="320040" y="6510528"/>
            <a:ext cx="457200" cy="338328"/>
          </a:xfrm>
          <a:prstGeom prst="rect">
            <a:avLst/>
          </a:prstGeom>
        </p:spPr>
      </p:pic>
      <p:sp>
        <p:nvSpPr>
          <p:cNvPr id="5" name="Text 2"/>
          <p:cNvSpPr txBox="1"/>
          <p:nvPr/>
        </p:nvSpPr>
        <p:spPr>
          <a:xfrm>
            <a:off x="0" y="6537960"/>
            <a:ext cx="9144000" cy="274320"/>
          </a:xfrm>
          <a:prstGeom prst="rect">
            <a:avLst/>
          </a:prstGeom>
          <a:noFill/>
          <a:ln/>
        </p:spPr>
        <p:txBody>
          <a:bodyPr wrap="square" rtlCol="0" anchor="ctr"/>
          <a:lstStyle/>
          <a:p>
            <a:pPr marL="0" indent="0" algn="ctr">
              <a:buNone/>
            </a:pPr>
            <a:r>
              <a:rPr lang="en-US" sz="1100" dirty="0">
                <a:solidFill>
                  <a:srgbClr val="404040"/>
                </a:solidFill>
                <a:latin typeface="Arial" pitchFamily="34" charset="0"/>
                <a:ea typeface="Arial" pitchFamily="34" charset="-122"/>
                <a:cs typeface="Arial" pitchFamily="34" charset="-120"/>
              </a:rPr>
              <a:t>Department of AIML | SJCEM</a:t>
            </a:r>
            <a:endParaRPr lang="en-US" sz="1100" dirty="0"/>
          </a:p>
        </p:txBody>
      </p:sp>
      <p:sp>
        <p:nvSpPr>
          <p:cNvPr id="6" name="Text 3"/>
          <p:cNvSpPr txBox="1"/>
          <p:nvPr/>
        </p:nvSpPr>
        <p:spPr>
          <a:xfrm>
            <a:off x="8503920" y="6510528"/>
            <a:ext cx="457200" cy="274320"/>
          </a:xfrm>
          <a:prstGeom prst="rect">
            <a:avLst/>
          </a:prstGeom>
          <a:noFill/>
          <a:ln/>
        </p:spPr>
        <p:txBody>
          <a:bodyPr wrap="square" rtlCol="0" anchor="ctr"/>
          <a:lstStyle/>
          <a:p>
            <a:pPr marL="0" indent="0" algn="r">
              <a:buNone/>
            </a:pPr>
            <a:r>
              <a:rPr lang="en-US" sz="1200" dirty="0">
                <a:solidFill>
                  <a:srgbClr val="000000"/>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2351</Words>
  <Application>Microsoft Office PowerPoint</Application>
  <PresentationFormat>On-screen Show (4:3)</PresentationFormat>
  <Paragraphs>196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Harsh jha</cp:lastModifiedBy>
  <cp:revision>1</cp:revision>
  <dcterms:created xsi:type="dcterms:W3CDTF">2026-09-09T03:41:27Z</dcterms:created>
  <dcterms:modified xsi:type="dcterms:W3CDTF">2026-09-09T04:03:05Z</dcterms:modified>
</cp:coreProperties>
</file>