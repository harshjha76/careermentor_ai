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12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jha" userId="841e15cb6e827339" providerId="LiveId" clId="{5BDE1102-D55C-4D66-949B-94511283CADF}"/>
    <pc:docChg chg="custSel modSld">
      <pc:chgData name="Harsh jha" userId="841e15cb6e827339" providerId="LiveId" clId="{5BDE1102-D55C-4D66-949B-94511283CADF}" dt="2026-09-09T04:01:40.727" v="68" actId="1076"/>
      <pc:docMkLst>
        <pc:docMk/>
      </pc:docMkLst>
      <pc:sldChg chg="delSp modSp mod">
        <pc:chgData name="Harsh jha" userId="841e15cb6e827339" providerId="LiveId" clId="{5BDE1102-D55C-4D66-949B-94511283CADF}" dt="2026-09-09T04:01:40.727" v="68" actId="1076"/>
        <pc:sldMkLst>
          <pc:docMk/>
          <pc:sldMk cId="0" sldId="256"/>
        </pc:sldMkLst>
        <pc:spChg chg="del mod">
          <ac:chgData name="Harsh jha" userId="841e15cb6e827339" providerId="LiveId" clId="{5BDE1102-D55C-4D66-949B-94511283CADF}" dt="2026-09-09T04:00:39.430" v="2" actId="478"/>
          <ac:spMkLst>
            <pc:docMk/>
            <pc:sldMk cId="0" sldId="256"/>
            <ac:spMk id="9" creationId="{00000000-0000-0000-0000-000000000000}"/>
          </ac:spMkLst>
        </pc:spChg>
        <pc:spChg chg="mod">
          <ac:chgData name="Harsh jha" userId="841e15cb6e827339" providerId="LiveId" clId="{5BDE1102-D55C-4D66-949B-94511283CADF}" dt="2026-09-09T04:01:40.727" v="68" actId="1076"/>
          <ac:spMkLst>
            <pc:docMk/>
            <pc:sldMk cId="0" sldId="256"/>
            <ac:spMk id="10" creationId="{00000000-0000-0000-0000-000000000000}"/>
          </ac:spMkLst>
        </pc:spChg>
        <pc:spChg chg="mod">
          <ac:chgData name="Harsh jha" userId="841e15cb6e827339" providerId="LiveId" clId="{5BDE1102-D55C-4D66-949B-94511283CADF}" dt="2026-09-09T04:01:34.664" v="67" actId="255"/>
          <ac:spMkLst>
            <pc:docMk/>
            <pc:sldMk cId="0" sldId="256"/>
            <ac:spMk id="11" creationId="{00000000-0000-0000-0000-000000000000}"/>
          </ac:spMkLst>
        </pc:spChg>
        <pc:spChg chg="mod">
          <ac:chgData name="Harsh jha" userId="841e15cb6e827339" providerId="LiveId" clId="{5BDE1102-D55C-4D66-949B-94511283CADF}" dt="2026-09-09T04:01:21.782" v="65" actId="20577"/>
          <ac:spMkLst>
            <pc:docMk/>
            <pc:sldMk cId="0" sldId="256"/>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710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guide, panel members, and faculty, a very pleasant morning. Today, our team is privileged to present our S.E. Capstone Project-I titled 'CareerMentor AI: An Autonomous Multilingual AI-Powered Career Guidance and Management Agent' under the Department of AIML at St. John College of Engineering and Management, Palghar. My name is Harsh Jha, and along with my partners, we present our solution to bridge the gap between academic learning and corporate technical placements.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presentation roadmap. We cover Introduction, Motivation, Problem Statement, Objectives, Scope, our Proposed System with its 4-tier architecture block diagram, the complete Methodology including the ER model, ER diagram, step-by-step procedure and tech stack, and our Q&amp;A defense.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graduates 1.5 million engineers annually, yet less than 20% are employable in software roles. College counselor ratios exceed 500:1, while over 75% of resumes are discarded by automated ATS screeners. CareerMentor AI solves this by serving as a 24/7 autonomous mentor unifying multi-session chat, resume AST evaluation, co-planning, and proactive email check-ins in English, Hindi, Marathi, and Sanskrit.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motivation stems from four key points: static roadmaps suffer 85%+ abandonment; freshers lack a sandbox for STAR interview practice; candidates face tool fragmentation; and traditional tools are passive. We built an active autonomous agent that triggers 2-hour interval check-ins and recalibrates schedules to science-backed 57-minute focus blocks.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statement addresses the barrier freshers face from ATS-incompatible resumes, unstructured preparation paths, and the complete absence of continuous, accessible, multilingual mentorship. Existing tools are fragmented, expensive, or static, failing to evaluate quantifiable achievement metrics or adapt to daily study budgets.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5 core objectives are: building a multi-session conversational mentor with voice and upload support; engineering a resume ATS analyzer with Google X-Y-Z metrics; constructing a Human+AI Co-Planner with workload risk analysis; creating a Knowledge Vault with dream company compatibility matching; and deploying an autonomous 2-hour reminder daemon. Freshers elevate their ATS score above 85% and avoid study burnout.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in-scope deliverables include the full-stack responsive dark-mode web app, PostgreSQL and SQLite storage, multi-session chat, Web Speech API voice input, PDF/DOCX parsing, and 4-language localization. Out-of-scope for this phase are video emotion analysis—reserved for Capstone-II—and native compiled mobile binaries.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follows a decoupled four-tier modular pipeline. The Presentation Tier in React 19 captures text prompts, voice audio via the Web Speech API, and resume uploads. The API and Middleware Tier in Node.js and Express.js authenticates stateless JWT tokens with self-healing logic that re-provisions user records if cloud containers restart. The Intelligence and Processing Tier extracts text from PDF and DOCX files via pdf-parse and mammoth, then reasons over it with Google Gemini 1.5 across four languages. Finally, the Storage and Notification Tier persists data to PostgreSQL or SQLite and delivers asynchronous emails via Resend or Nodemailer.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relational model centers on the users table, which stores student credentials, target role, dream companies, and focus time budget. Chat sessions and chat messages form a one-to-many relationship for persistent multi-session chat history with document attachment metadata. Resumes hold uploaded documents, the calculated ATS score, and Google X-Y-Z feedback. Roadmaps and roadmap tasks break learning into weekly milestones with one curated YouTube link per week. Plans hold collaborative schedules tagging tasks as human- or AI-authored with workload risk diagnostics, and reminders drive background autonomous two-hour check-ins.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complete ER diagram. The users table sits at the center, connected one-to-many to resumes, roadmaps, plans, chat sessions, reminders, and goals. Roadmaps further expand one-to-many into roadmap tasks, and chat sessions expand one-to-many into chat messages, giving us nine core relational entities in total.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onboarding: the student logs in via 1-click demo or real email and sets their target role, dream companies, language, and daily focus block. Step two, resume ATS scoring: the backend computes a 0 to 100 score and rewrites bullet points using the Google X-Y-Z formula. Step three, skill-gap assessment: the What I Know vault calculates company compatibility percentages and generates a bridging roadmap. Step four, co-planning: the Plan Analyzer diagnoses workload pros and cons and recalibrates tasks to the chosen focus block with one click. Step five, mentorship and autonomous follow-up: the student chats via voice or document upload, and if study stops, the autonomous agent emails an encouraging check-in after two hours.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at a glance: on the frontend, React 19, Tailwind CSS with a dark SaaS palette, Vite, and the Web Speech API for voice input. On the backend, Node.js and Express.js REST APIs with JWT authentication, Multer, pdf-parse, and mammoth. Our AI core runs on Google Gemini 1.5 Pro and Flash via the generative-ai SDK. Databases are dual-mode: PostgreSQL on Render Cloud with a SQLite3 local fallback. Notifications go out through the Resend REST API and Nodemailer over SMTP, and the whole platform is hosted on Render with GitHub-automated CI/CD.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CareerMentor AI turns career anxiety into structured daily progress. Our repository is open-source on GitHub, and the live application is deployed on Render. Thank you, and we welcome questions from the panel.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key technical considerations: Cloud database resets on Render are handled by decoding cryptographically verified JWT claims in our middleware to auto-restore the user row in the database. Hallucinations are mitigated through strict JSON schemas and linking YouTube masterclasses once per weekly milestone on Day 1. Multilingual prompts preserve programming keywords in English while conversing in Hindi or Marathi. And our ATS score uses a 5-pillar formula: 30% X-Y-Z metrics, 25% technical skills, 20% structure, 15% metrics, and 10% readability.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work/college_logo.jpg"/>
          <p:cNvPicPr>
            <a:picLocks noChangeAspect="1"/>
          </p:cNvPicPr>
          <p:nvPr/>
        </p:nvPicPr>
        <p:blipFill>
          <a:blip r:embed="rId3"/>
          <a:stretch>
            <a:fillRect/>
          </a:stretch>
        </p:blipFill>
        <p:spPr>
          <a:xfrm>
            <a:off x="320040" y="164592"/>
            <a:ext cx="868680" cy="640080"/>
          </a:xfrm>
          <a:prstGeom prst="rect">
            <a:avLst/>
          </a:prstGeom>
        </p:spPr>
      </p:pic>
      <p:pic>
        <p:nvPicPr>
          <p:cNvPr id="3" name="Image 1" descr="/home/claude/work/aldel_logo.jpg"/>
          <p:cNvPicPr>
            <a:picLocks noChangeAspect="1"/>
          </p:cNvPicPr>
          <p:nvPr/>
        </p:nvPicPr>
        <p:blipFill>
          <a:blip r:embed="rId4"/>
          <a:stretch>
            <a:fillRect/>
          </a:stretch>
        </p:blipFill>
        <p:spPr>
          <a:xfrm>
            <a:off x="8092440" y="109728"/>
            <a:ext cx="566928" cy="713232"/>
          </a:xfrm>
          <a:prstGeom prst="rect">
            <a:avLst/>
          </a:prstGeom>
        </p:spPr>
      </p:pic>
      <p:sp>
        <p:nvSpPr>
          <p:cNvPr id="4" name="Text 0"/>
          <p:cNvSpPr txBox="1"/>
          <p:nvPr/>
        </p:nvSpPr>
        <p:spPr>
          <a:xfrm>
            <a:off x="0" y="137160"/>
            <a:ext cx="9144000" cy="274320"/>
          </a:xfrm>
          <a:prstGeom prst="rect">
            <a:avLst/>
          </a:prstGeom>
          <a:noFill/>
          <a:ln/>
        </p:spPr>
        <p:txBody>
          <a:bodyPr wrap="square" rtlCol="0" anchor="ctr"/>
          <a:lstStyle/>
          <a:p>
            <a:pPr marL="0" indent="0" algn="ctr">
              <a:buNone/>
            </a:pPr>
            <a:r>
              <a:rPr lang="en-US" sz="1500" b="1" dirty="0">
                <a:solidFill>
                  <a:srgbClr val="C00000"/>
                </a:solidFill>
                <a:latin typeface="Times New Roman" pitchFamily="34" charset="0"/>
                <a:ea typeface="Times New Roman" pitchFamily="34" charset="-122"/>
                <a:cs typeface="Times New Roman" pitchFamily="34" charset="-120"/>
              </a:rPr>
              <a:t>Aldel Education Trust's</a:t>
            </a:r>
            <a:endParaRPr lang="en-US" sz="1500" dirty="0"/>
          </a:p>
        </p:txBody>
      </p:sp>
      <p:sp>
        <p:nvSpPr>
          <p:cNvPr id="5" name="Text 1"/>
          <p:cNvSpPr txBox="1"/>
          <p:nvPr/>
        </p:nvSpPr>
        <p:spPr>
          <a:xfrm>
            <a:off x="0" y="384048"/>
            <a:ext cx="9144000" cy="320040"/>
          </a:xfrm>
          <a:prstGeom prst="rect">
            <a:avLst/>
          </a:prstGeom>
          <a:noFill/>
          <a:ln/>
        </p:spPr>
        <p:txBody>
          <a:bodyPr wrap="square" rtlCol="0" anchor="ctr"/>
          <a:lstStyle/>
          <a:p>
            <a:pPr marL="0" indent="0" algn="ctr">
              <a:buNone/>
            </a:pPr>
            <a:r>
              <a:rPr lang="en-US" sz="1700" b="1" dirty="0">
                <a:solidFill>
                  <a:srgbClr val="33328F"/>
                </a:solidFill>
                <a:latin typeface="Times New Roman" pitchFamily="34" charset="0"/>
                <a:ea typeface="Times New Roman" pitchFamily="34" charset="-122"/>
                <a:cs typeface="Times New Roman" pitchFamily="34" charset="-120"/>
              </a:rPr>
              <a:t>St. John College of Engineering and Management, Palghar</a:t>
            </a:r>
            <a:endParaRPr lang="en-US" sz="1700" dirty="0"/>
          </a:p>
        </p:txBody>
      </p:sp>
      <p:sp>
        <p:nvSpPr>
          <p:cNvPr id="6" name="Text 2"/>
          <p:cNvSpPr txBox="1"/>
          <p:nvPr/>
        </p:nvSpPr>
        <p:spPr>
          <a:xfrm>
            <a:off x="0" y="658368"/>
            <a:ext cx="9144000" cy="256032"/>
          </a:xfrm>
          <a:prstGeom prst="rect">
            <a:avLst/>
          </a:prstGeom>
          <a:noFill/>
          <a:ln/>
        </p:spPr>
        <p:txBody>
          <a:bodyPr wrap="square" rtlCol="0" anchor="ctr"/>
          <a:lstStyle/>
          <a:p>
            <a:pPr marL="0" indent="0" algn="ctr">
              <a:buNone/>
            </a:pPr>
            <a:r>
              <a:rPr lang="en-US" sz="1100" b="1" dirty="0">
                <a:solidFill>
                  <a:srgbClr val="C00000"/>
                </a:solidFill>
                <a:latin typeface="Times New Roman" pitchFamily="34" charset="0"/>
                <a:ea typeface="Times New Roman" pitchFamily="34" charset="-122"/>
                <a:cs typeface="Times New Roman" pitchFamily="34" charset="-120"/>
              </a:rPr>
              <a:t>NAAC Accredited with Grade A+</a:t>
            </a:r>
            <a:endParaRPr lang="en-US" sz="1100" dirty="0"/>
          </a:p>
        </p:txBody>
      </p:sp>
      <p:sp>
        <p:nvSpPr>
          <p:cNvPr id="7" name="Shape 3"/>
          <p:cNvSpPr/>
          <p:nvPr/>
        </p:nvSpPr>
        <p:spPr>
          <a:xfrm>
            <a:off x="274320" y="960120"/>
            <a:ext cx="8595360" cy="0"/>
          </a:xfrm>
          <a:prstGeom prst="line">
            <a:avLst/>
          </a:prstGeom>
          <a:noFill/>
          <a:ln w="28575">
            <a:solidFill>
              <a:srgbClr val="33328F"/>
            </a:solidFill>
            <a:prstDash val="solid"/>
          </a:ln>
        </p:spPr>
      </p:sp>
      <p:sp>
        <p:nvSpPr>
          <p:cNvPr id="8" name="Text 4"/>
          <p:cNvSpPr txBox="1"/>
          <p:nvPr/>
        </p:nvSpPr>
        <p:spPr>
          <a:xfrm>
            <a:off x="0" y="1417320"/>
            <a:ext cx="9144000" cy="365760"/>
          </a:xfrm>
          <a:prstGeom prst="rect">
            <a:avLst/>
          </a:prstGeom>
          <a:noFill/>
          <a:ln/>
        </p:spPr>
        <p:txBody>
          <a:bodyPr wrap="square"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DEPARTMENT OF AIML</a:t>
            </a:r>
            <a:endParaRPr lang="en-US" sz="2000" dirty="0"/>
          </a:p>
        </p:txBody>
      </p:sp>
      <p:sp>
        <p:nvSpPr>
          <p:cNvPr id="10" name="Text 6"/>
          <p:cNvSpPr txBox="1"/>
          <p:nvPr/>
        </p:nvSpPr>
        <p:spPr>
          <a:xfrm>
            <a:off x="548640" y="2240279"/>
            <a:ext cx="8046720" cy="822960"/>
          </a:xfrm>
          <a:prstGeom prst="rect">
            <a:avLst/>
          </a:prstGeom>
          <a:noFill/>
          <a:ln/>
        </p:spPr>
        <p:txBody>
          <a:bodyPr wrap="square" rtlCol="0" anchor="t"/>
          <a:lstStyle/>
          <a:p>
            <a:pPr marL="0" indent="0" algn="ctr">
              <a:buNone/>
            </a:pPr>
            <a:r>
              <a:rPr lang="en-US" sz="2200" b="1" dirty="0">
                <a:solidFill>
                  <a:srgbClr val="C00000"/>
                </a:solidFill>
                <a:latin typeface="Times New Roman" pitchFamily="34" charset="0"/>
                <a:ea typeface="Times New Roman" pitchFamily="34" charset="-122"/>
                <a:cs typeface="Times New Roman" pitchFamily="34" charset="-120"/>
              </a:rPr>
              <a:t>CareerMentor AI: An Autonomous Multilingual AI-Powered</a:t>
            </a:r>
            <a:endParaRPr lang="en-US" sz="2200" dirty="0"/>
          </a:p>
          <a:p>
            <a:pPr marL="0" indent="0" algn="ctr">
              <a:buNone/>
            </a:pPr>
            <a:r>
              <a:rPr lang="en-US" sz="2200" b="1" dirty="0">
                <a:solidFill>
                  <a:srgbClr val="C00000"/>
                </a:solidFill>
                <a:latin typeface="Times New Roman" pitchFamily="34" charset="0"/>
                <a:ea typeface="Times New Roman" pitchFamily="34" charset="-122"/>
                <a:cs typeface="Times New Roman" pitchFamily="34" charset="-120"/>
              </a:rPr>
              <a:t>Career Guidance and Management Agent</a:t>
            </a:r>
            <a:endParaRPr lang="en-US" sz="2200" dirty="0"/>
          </a:p>
        </p:txBody>
      </p:sp>
      <p:sp>
        <p:nvSpPr>
          <p:cNvPr id="11" name="Text 7"/>
          <p:cNvSpPr txBox="1"/>
          <p:nvPr/>
        </p:nvSpPr>
        <p:spPr>
          <a:xfrm>
            <a:off x="548640" y="3429000"/>
            <a:ext cx="8046720" cy="1097280"/>
          </a:xfrm>
          <a:prstGeom prst="rect">
            <a:avLst/>
          </a:prstGeom>
          <a:noFill/>
          <a:ln/>
        </p:spPr>
        <p:txBody>
          <a:bodyPr wrap="square" rtlCol="0" anchor="t"/>
          <a:lstStyle/>
          <a:p>
            <a:pPr marL="0" indent="0" algn="ctr">
              <a:spcAft>
                <a:spcPts val="600"/>
              </a:spcAft>
              <a:buNone/>
            </a:pPr>
            <a:r>
              <a:rPr lang="en-US" sz="2000" b="1" dirty="0">
                <a:solidFill>
                  <a:srgbClr val="000000"/>
                </a:solidFill>
                <a:latin typeface="Times New Roman" pitchFamily="34" charset="0"/>
                <a:ea typeface="Times New Roman" pitchFamily="34" charset="-122"/>
                <a:cs typeface="Times New Roman" pitchFamily="34" charset="-120"/>
              </a:rPr>
              <a:t>Harsh Jha  (20) [EU1256001]</a:t>
            </a:r>
            <a:endParaRPr lang="en-US" sz="2000" b="1" dirty="0"/>
          </a:p>
        </p:txBody>
      </p:sp>
      <p:sp>
        <p:nvSpPr>
          <p:cNvPr id="12" name="Text 8"/>
          <p:cNvSpPr txBox="1"/>
          <p:nvPr/>
        </p:nvSpPr>
        <p:spPr>
          <a:xfrm>
            <a:off x="0" y="4617720"/>
            <a:ext cx="9144000" cy="365760"/>
          </a:xfrm>
          <a:prstGeom prst="rect">
            <a:avLst/>
          </a:prstGeom>
          <a:noFill/>
          <a:ln/>
        </p:spPr>
        <p:txBody>
          <a:bodyPr wrap="square"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09/09/2026</a:t>
            </a:r>
            <a:endParaRPr lang="en-US" sz="1600" dirty="0"/>
          </a:p>
        </p:txBody>
      </p:sp>
      <p:sp>
        <p:nvSpPr>
          <p:cNvPr id="13" name="Shape 9"/>
          <p:cNvSpPr/>
          <p:nvPr/>
        </p:nvSpPr>
        <p:spPr>
          <a:xfrm>
            <a:off x="274320" y="6537960"/>
            <a:ext cx="8595360" cy="0"/>
          </a:xfrm>
          <a:prstGeom prst="line">
            <a:avLst/>
          </a:prstGeom>
          <a:noFill/>
          <a:ln w="28575">
            <a:solidFill>
              <a:srgbClr val="33328F"/>
            </a:solidFill>
            <a:prstDash val="solid"/>
          </a:ln>
        </p:spPr>
      </p:sp>
      <p:sp>
        <p:nvSpPr>
          <p:cNvPr id="14" name="Text 10"/>
          <p:cNvSpPr txBox="1"/>
          <p:nvPr/>
        </p:nvSpPr>
        <p:spPr>
          <a:xfrm>
            <a:off x="8503920" y="6565392"/>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Contents</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2</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900"/>
              </a:spcAft>
              <a:buSzPct val="100000"/>
              <a:buChar char="•"/>
            </a:pPr>
            <a:r>
              <a:rPr lang="en-US" sz="1650" b="1" dirty="0">
                <a:solidFill>
                  <a:srgbClr val="000000"/>
                </a:solidFill>
                <a:latin typeface="Times New Roman" pitchFamily="34" charset="0"/>
                <a:ea typeface="Times New Roman" pitchFamily="34" charset="-122"/>
                <a:cs typeface="Times New Roman" pitchFamily="34" charset="-120"/>
              </a:rPr>
              <a:t>Introduction</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Motivation</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Problem Statement</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Objectives &amp; Expected Outcomes</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Scope</a:t>
            </a:r>
            <a:endParaRPr lang="en-US" sz="1650" dirty="0"/>
          </a:p>
          <a:p>
            <a:pPr marL="342900" indent="-342900">
              <a:spcAft>
                <a:spcPts val="900"/>
              </a:spcAft>
              <a:buSzPct val="100000"/>
              <a:buChar char="•"/>
            </a:pPr>
            <a:r>
              <a:rPr lang="en-US" sz="1650" b="1" dirty="0">
                <a:solidFill>
                  <a:srgbClr val="000000"/>
                </a:solidFill>
                <a:latin typeface="Times New Roman" pitchFamily="34" charset="0"/>
                <a:ea typeface="Times New Roman" pitchFamily="34" charset="-122"/>
                <a:cs typeface="Times New Roman" pitchFamily="34" charset="-120"/>
              </a:rPr>
              <a:t>Proposed System</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System Architecture &amp; Working Flow</a:t>
            </a:r>
            <a:endParaRPr lang="en-US" sz="1650" dirty="0"/>
          </a:p>
          <a:p>
            <a:pPr marL="342900" indent="-342900">
              <a:spcAft>
                <a:spcPts val="900"/>
              </a:spcAft>
              <a:buSzPct val="100000"/>
              <a:buChar char="•"/>
            </a:pPr>
            <a:r>
              <a:rPr lang="en-US" sz="1650" b="1" dirty="0">
                <a:solidFill>
                  <a:srgbClr val="000000"/>
                </a:solidFill>
                <a:latin typeface="Times New Roman" pitchFamily="34" charset="0"/>
                <a:ea typeface="Times New Roman" pitchFamily="34" charset="-122"/>
                <a:cs typeface="Times New Roman" pitchFamily="34" charset="-120"/>
              </a:rPr>
              <a:t>Methodology</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Core Relational Entities (ER Model Summary)</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Entity-Relationship (ER) Diagram</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Step-by-Step Operational Procedure</a:t>
            </a:r>
            <a:endParaRPr lang="en-US" sz="1650" dirty="0"/>
          </a:p>
          <a:p>
            <a:pPr marL="685800" lvl="1"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Technology Stack at a Glance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Introduction</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3</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Over 1.5 million engineering students graduate annually in India, yet fewer than 20% are considered employable for Tier-1 product roles.</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Tier-2/Tier-3 institutions face acute counseling deficits, with student-to-counselor ratios routinely exceeding 500:1.</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Applicant Tracking Systems (ATS) auto-reject over 75% of resumes before human review due to unquantified achievements, parsing errors, and keyword gaps.</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Career guidance tools remain strictly monolingual in English, creating cognitive friction for regional-language students.</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CareerMentor AI is a 24/7, autonomous, multilingual (English, Hindi, Marathi, Sanskrit) AI agent unifying conversational mentoring, voice input, resume analysis, co-planning, and proactive check-ins.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Motivation</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4</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High attrition in static online learning: rigid 8-hour daily roadmaps ignore lab work and exams, causing 85%+ abandonment.</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No safe space for interview practice: freshers lack a risk-free way to rehearse STAR-based behavioral answers or defend system design trade-offs.</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Severe career-tooling fragmentation: 5+ disconnected utilities (ATS checkers, video playlists, calendars, chatbots) cause fatigue and lost context.</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Linguistic and regional exclusion: most prep resources ignore Hindi/Marathi-speaking regional engineering students.</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Lack of autonomous accountability: passive platforms stay inert until the student logs in, instead of proactively checking in.</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Need for science-backed focus blocks: customizable 30/45/57/90-minute sessions (57 min = optimal focus block) beat rigid hour-long slots.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Problem Statement</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5</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Engineering undergraduates face severe placement barriers due to ATS-incompatible resumes and career disorientation.</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Preparation paths remain unstructured, with no continuous, accessible, multilingual technical mentorship.</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Existing solutions are fragmented across single-purpose tools, cost-prohibitive, or strictly monolingual.</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Current tools fail to evaluate resumes against quantifiable achievement standards (Google X-Y-Z formula).</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No dynamic adaptation of study schedules to variable time budgets, multi-session memory, or proactive follow-up exists today.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Objectives &amp; Expected Outcomes</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6</a:t>
            </a:r>
            <a:endParaRPr lang="en-US" sz="1200" dirty="0"/>
          </a:p>
        </p:txBody>
      </p:sp>
      <p:sp>
        <p:nvSpPr>
          <p:cNvPr id="9" name="Text 5"/>
          <p:cNvSpPr txBox="1"/>
          <p:nvPr/>
        </p:nvSpPr>
        <p:spPr>
          <a:xfrm>
            <a:off x="54864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Core Objectives</a:t>
            </a:r>
            <a:endParaRPr lang="en-US" sz="1600" dirty="0"/>
          </a:p>
        </p:txBody>
      </p:sp>
      <p:sp>
        <p:nvSpPr>
          <p:cNvPr id="10" name="Text 6"/>
          <p:cNvSpPr txBox="1"/>
          <p:nvPr/>
        </p:nvSpPr>
        <p:spPr>
          <a:xfrm>
            <a:off x="548640" y="1417320"/>
            <a:ext cx="3931920" cy="47548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Intelligent multi-session conversational mentor with voice input, document analysis, and STAR coaching.</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Algorithmic resume ATS analyzer with PDF/DOCX parsing and Google X-Y-Z rewrites.</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Human + AI collaborative co-planner with workload risk analysis and 1-click optimization.</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Knowledge vault &amp; company compatibility matrix with skill-bridging roadmaps.</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Autonomous background reminder agent with multilingual email check-ins.</a:t>
            </a:r>
            <a:endParaRPr lang="en-US" sz="1250" dirty="0"/>
          </a:p>
        </p:txBody>
      </p:sp>
      <p:sp>
        <p:nvSpPr>
          <p:cNvPr id="11" name="Text 7"/>
          <p:cNvSpPr txBox="1"/>
          <p:nvPr/>
        </p:nvSpPr>
        <p:spPr>
          <a:xfrm>
            <a:off x="470916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Expected Outcomes</a:t>
            </a:r>
            <a:endParaRPr lang="en-US" sz="1600" dirty="0"/>
          </a:p>
        </p:txBody>
      </p:sp>
      <p:sp>
        <p:nvSpPr>
          <p:cNvPr id="12" name="Text 8"/>
          <p:cNvSpPr txBox="1"/>
          <p:nvPr/>
        </p:nvSpPr>
        <p:spPr>
          <a:xfrm>
            <a:off x="4709160" y="1417320"/>
            <a:ext cx="3931920" cy="47548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ATS scores rise from sub-50% to over 85% through quantified metric enforcement.</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Better study-habit adherence via 57-minute science-backed focus budgeting.</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Frictionless multilingual accessibility for tier-2/tier-3 students.</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Zero-friction access via 1-click demo login and self-healing sessions with zero data loss.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Scope</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7</a:t>
            </a:r>
            <a:endParaRPr lang="en-US" sz="1200" dirty="0"/>
          </a:p>
        </p:txBody>
      </p:sp>
      <p:sp>
        <p:nvSpPr>
          <p:cNvPr id="9" name="Text 5"/>
          <p:cNvSpPr txBox="1"/>
          <p:nvPr/>
        </p:nvSpPr>
        <p:spPr>
          <a:xfrm>
            <a:off x="54864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In-Scope</a:t>
            </a:r>
            <a:endParaRPr lang="en-US" sz="1600" dirty="0"/>
          </a:p>
        </p:txBody>
      </p:sp>
      <p:sp>
        <p:nvSpPr>
          <p:cNvPr id="10" name="Text 6"/>
          <p:cNvSpPr txBox="1"/>
          <p:nvPr/>
        </p:nvSpPr>
        <p:spPr>
          <a:xfrm>
            <a:off x="548640" y="1417320"/>
            <a:ext cx="3931920" cy="47548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Responsive dark SaaS web app: React 19, Tailwind CSS, Vite 6.</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Dual-engine database: PostgreSQL (production) with SQLite3 local fallback.</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Multi-session chat with full CRUD and auto-generated titles.</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Voice (Web Speech API) and document input (.pdf, .docx, .txt, .json, .md).</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4-language localization: English, Hindi, Marathi, Sanskrit.</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Curated weekly roadmaps and interactive SVG donut-chart visualizations.</a:t>
            </a:r>
            <a:endParaRPr lang="en-US" sz="1250" dirty="0"/>
          </a:p>
        </p:txBody>
      </p:sp>
      <p:sp>
        <p:nvSpPr>
          <p:cNvPr id="11" name="Text 7"/>
          <p:cNvSpPr txBox="1"/>
          <p:nvPr/>
        </p:nvSpPr>
        <p:spPr>
          <a:xfrm>
            <a:off x="470916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Out-of-Scope (Future Work)</a:t>
            </a:r>
            <a:endParaRPr lang="en-US" sz="1600" dirty="0"/>
          </a:p>
        </p:txBody>
      </p:sp>
      <p:sp>
        <p:nvSpPr>
          <p:cNvPr id="12" name="Text 8"/>
          <p:cNvSpPr txBox="1"/>
          <p:nvPr/>
        </p:nvSpPr>
        <p:spPr>
          <a:xfrm>
            <a:off x="4709160" y="1417320"/>
            <a:ext cx="3931920" cy="47548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Real-time video facial/posture emotion analysis (planned for Capstone-II).</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Native compiled iOS/Android binaries — this phase ships as a PWA.</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Automated job-board application bots (blocked by ToS/CAPTCHA).</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Human peer-to-peer mock interview pairing.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Proposed System</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8</a:t>
            </a:r>
            <a:endParaRPr lang="en-US" sz="1200" dirty="0"/>
          </a:p>
        </p:txBody>
      </p:sp>
      <p:sp>
        <p:nvSpPr>
          <p:cNvPr id="9" name="Text 5"/>
          <p:cNvSpPr txBox="1"/>
          <p:nvPr/>
        </p:nvSpPr>
        <p:spPr>
          <a:xfrm>
            <a:off x="457200" y="960120"/>
            <a:ext cx="8229600" cy="365760"/>
          </a:xfrm>
          <a:prstGeom prst="rect">
            <a:avLst/>
          </a:prstGeom>
          <a:noFill/>
          <a:ln/>
        </p:spPr>
        <p:txBody>
          <a:bodyPr wrap="square" rtlCol="0" anchor="ctr"/>
          <a:lstStyle/>
          <a:p>
            <a:pPr marL="0" indent="0">
              <a:buNone/>
            </a:pPr>
            <a:r>
              <a:rPr lang="en-US" sz="1300" dirty="0">
                <a:solidFill>
                  <a:srgbClr val="404040"/>
                </a:solidFill>
                <a:latin typeface="Times New Roman" pitchFamily="34" charset="0"/>
                <a:ea typeface="Times New Roman" pitchFamily="34" charset="-122"/>
                <a:cs typeface="Times New Roman" pitchFamily="34" charset="-120"/>
              </a:rPr>
              <a:t>System Architecture &amp; Working Flow: a decoupled four-tier modular pipeline (Fig. 1).</a:t>
            </a:r>
            <a:endParaRPr lang="en-US" sz="1300" dirty="0"/>
          </a:p>
        </p:txBody>
      </p:sp>
      <p:sp>
        <p:nvSpPr>
          <p:cNvPr id="10" name="Shape 6"/>
          <p:cNvSpPr/>
          <p:nvPr/>
        </p:nvSpPr>
        <p:spPr>
          <a:xfrm>
            <a:off x="457200" y="1371600"/>
            <a:ext cx="8229600" cy="566928"/>
          </a:xfrm>
          <a:prstGeom prst="roundRect">
            <a:avLst>
              <a:gd name="adj" fmla="val 9677"/>
            </a:avLst>
          </a:prstGeom>
          <a:solidFill>
            <a:srgbClr val="E8EAF6"/>
          </a:solidFill>
          <a:ln w="15875">
            <a:solidFill>
              <a:srgbClr val="33328F"/>
            </a:solidFill>
            <a:prstDash val="solid"/>
          </a:ln>
        </p:spPr>
      </p:sp>
      <p:sp>
        <p:nvSpPr>
          <p:cNvPr id="11" name="Text 7"/>
          <p:cNvSpPr txBox="1"/>
          <p:nvPr/>
        </p:nvSpPr>
        <p:spPr>
          <a:xfrm>
            <a:off x="594360" y="1399032"/>
            <a:ext cx="7955280" cy="512064"/>
          </a:xfrm>
          <a:prstGeom prst="rect">
            <a:avLst/>
          </a:prstGeom>
          <a:noFill/>
          <a:ln/>
        </p:spPr>
        <p:txBody>
          <a:bodyPr wrap="square" lIns="0" tIns="0" rIns="0" bIns="0" rtlCol="0" anchor="ctr"/>
          <a:lstStyle/>
          <a:p>
            <a:pPr marL="0" indent="0">
              <a:buNone/>
            </a:pPr>
            <a:r>
              <a:rPr lang="en-US" sz="1250" b="1" dirty="0">
                <a:solidFill>
                  <a:srgbClr val="000000"/>
                </a:solidFill>
                <a:latin typeface="Arial" pitchFamily="34" charset="0"/>
                <a:ea typeface="Arial" pitchFamily="34" charset="-122"/>
                <a:cs typeface="Arial" pitchFamily="34" charset="-120"/>
              </a:rPr>
              <a:t>1. Presentation Tier  —  React 19 + Vite + Tailwind CSS</a:t>
            </a:r>
            <a:endParaRPr lang="en-US" sz="1250" dirty="0"/>
          </a:p>
          <a:p>
            <a:pPr marL="0" indent="0">
              <a:buNone/>
            </a:pPr>
            <a:r>
              <a:rPr lang="en-US" sz="1000" dirty="0">
                <a:solidFill>
                  <a:srgbClr val="404040"/>
                </a:solidFill>
                <a:latin typeface="Arial" pitchFamily="34" charset="0"/>
                <a:ea typeface="Arial" pitchFamily="34" charset="-122"/>
                <a:cs typeface="Arial" pitchFamily="34" charset="-120"/>
              </a:rPr>
              <a:t>Captures text prompts, voice audio (Web Speech API), and resume file uploads</a:t>
            </a:r>
            <a:endParaRPr lang="en-US" sz="1250" dirty="0"/>
          </a:p>
        </p:txBody>
      </p:sp>
      <p:sp>
        <p:nvSpPr>
          <p:cNvPr id="12" name="Shape 8"/>
          <p:cNvSpPr/>
          <p:nvPr/>
        </p:nvSpPr>
        <p:spPr>
          <a:xfrm>
            <a:off x="4434840" y="1956816"/>
            <a:ext cx="274320" cy="201168"/>
          </a:xfrm>
          <a:prstGeom prst="downArrow">
            <a:avLst/>
          </a:prstGeom>
          <a:solidFill>
            <a:srgbClr val="33328F"/>
          </a:solidFill>
          <a:ln w="12700">
            <a:solidFill>
              <a:srgbClr val="33328F"/>
            </a:solidFill>
            <a:prstDash val="solid"/>
          </a:ln>
        </p:spPr>
      </p:sp>
      <p:sp>
        <p:nvSpPr>
          <p:cNvPr id="13" name="Text 9"/>
          <p:cNvSpPr txBox="1"/>
          <p:nvPr/>
        </p:nvSpPr>
        <p:spPr>
          <a:xfrm>
            <a:off x="4800600" y="1938528"/>
            <a:ext cx="2194560" cy="237744"/>
          </a:xfrm>
          <a:prstGeom prst="rect">
            <a:avLst/>
          </a:prstGeom>
          <a:noFill/>
          <a:ln/>
        </p:spPr>
        <p:txBody>
          <a:bodyPr wrap="square" rtlCol="0" anchor="ctr"/>
          <a:lstStyle/>
          <a:p>
            <a:pPr marL="0" indent="0">
              <a:buNone/>
            </a:pPr>
            <a:r>
              <a:rPr lang="en-US" sz="900" i="1" dirty="0">
                <a:solidFill>
                  <a:srgbClr val="33328F"/>
                </a:solidFill>
                <a:latin typeface="Arial" pitchFamily="34" charset="0"/>
                <a:ea typeface="Arial" pitchFamily="34" charset="-122"/>
                <a:cs typeface="Arial" pitchFamily="34" charset="-120"/>
              </a:rPr>
              <a:t>JWT Bearer / REST</a:t>
            </a:r>
            <a:endParaRPr lang="en-US" sz="900" dirty="0"/>
          </a:p>
        </p:txBody>
      </p:sp>
      <p:sp>
        <p:nvSpPr>
          <p:cNvPr id="14" name="Shape 10"/>
          <p:cNvSpPr/>
          <p:nvPr/>
        </p:nvSpPr>
        <p:spPr>
          <a:xfrm>
            <a:off x="457200" y="2176272"/>
            <a:ext cx="8229600" cy="566928"/>
          </a:xfrm>
          <a:prstGeom prst="roundRect">
            <a:avLst>
              <a:gd name="adj" fmla="val 9677"/>
            </a:avLst>
          </a:prstGeom>
          <a:solidFill>
            <a:srgbClr val="E8EAF6"/>
          </a:solidFill>
          <a:ln w="15875">
            <a:solidFill>
              <a:srgbClr val="33328F"/>
            </a:solidFill>
            <a:prstDash val="solid"/>
          </a:ln>
        </p:spPr>
      </p:sp>
      <p:sp>
        <p:nvSpPr>
          <p:cNvPr id="15" name="Text 11"/>
          <p:cNvSpPr txBox="1"/>
          <p:nvPr/>
        </p:nvSpPr>
        <p:spPr>
          <a:xfrm>
            <a:off x="594360" y="2203704"/>
            <a:ext cx="7955280" cy="512064"/>
          </a:xfrm>
          <a:prstGeom prst="rect">
            <a:avLst/>
          </a:prstGeom>
          <a:noFill/>
          <a:ln/>
        </p:spPr>
        <p:txBody>
          <a:bodyPr wrap="square" lIns="0" tIns="0" rIns="0" bIns="0" rtlCol="0" anchor="ctr"/>
          <a:lstStyle/>
          <a:p>
            <a:pPr marL="0" indent="0">
              <a:buNone/>
            </a:pPr>
            <a:r>
              <a:rPr lang="en-US" sz="1250" b="1" dirty="0">
                <a:solidFill>
                  <a:srgbClr val="000000"/>
                </a:solidFill>
                <a:latin typeface="Arial" pitchFamily="34" charset="0"/>
                <a:ea typeface="Arial" pitchFamily="34" charset="-122"/>
                <a:cs typeface="Arial" pitchFamily="34" charset="-120"/>
              </a:rPr>
              <a:t>2. API &amp; Middleware Tier  —  Node.js + Express.js</a:t>
            </a:r>
            <a:endParaRPr lang="en-US" sz="1250" dirty="0"/>
          </a:p>
          <a:p>
            <a:pPr marL="0" indent="0">
              <a:buNone/>
            </a:pPr>
            <a:r>
              <a:rPr lang="en-US" sz="1000" dirty="0">
                <a:solidFill>
                  <a:srgbClr val="404040"/>
                </a:solidFill>
                <a:latin typeface="Arial" pitchFamily="34" charset="0"/>
                <a:ea typeface="Arial" pitchFamily="34" charset="-122"/>
                <a:cs typeface="Arial" pitchFamily="34" charset="-120"/>
              </a:rPr>
              <a:t>Authenticates stateless JWT tokens; Self-Healing logic re-provisions user records on container restart</a:t>
            </a:r>
            <a:endParaRPr lang="en-US" sz="1250" dirty="0"/>
          </a:p>
        </p:txBody>
      </p:sp>
      <p:sp>
        <p:nvSpPr>
          <p:cNvPr id="16" name="Shape 12"/>
          <p:cNvSpPr/>
          <p:nvPr/>
        </p:nvSpPr>
        <p:spPr>
          <a:xfrm>
            <a:off x="4434840" y="2761488"/>
            <a:ext cx="274320" cy="201168"/>
          </a:xfrm>
          <a:prstGeom prst="downArrow">
            <a:avLst/>
          </a:prstGeom>
          <a:solidFill>
            <a:srgbClr val="33328F"/>
          </a:solidFill>
          <a:ln w="12700">
            <a:solidFill>
              <a:srgbClr val="33328F"/>
            </a:solidFill>
            <a:prstDash val="solid"/>
          </a:ln>
        </p:spPr>
      </p:sp>
      <p:sp>
        <p:nvSpPr>
          <p:cNvPr id="17" name="Text 13"/>
          <p:cNvSpPr txBox="1"/>
          <p:nvPr/>
        </p:nvSpPr>
        <p:spPr>
          <a:xfrm>
            <a:off x="4800600" y="2743200"/>
            <a:ext cx="2194560" cy="237744"/>
          </a:xfrm>
          <a:prstGeom prst="rect">
            <a:avLst/>
          </a:prstGeom>
          <a:noFill/>
          <a:ln/>
        </p:spPr>
        <p:txBody>
          <a:bodyPr wrap="square" rtlCol="0" anchor="ctr"/>
          <a:lstStyle/>
          <a:p>
            <a:pPr marL="0" indent="0">
              <a:buNone/>
            </a:pPr>
            <a:r>
              <a:rPr lang="en-US" sz="900" i="1" dirty="0">
                <a:solidFill>
                  <a:srgbClr val="33328F"/>
                </a:solidFill>
                <a:latin typeface="Arial" pitchFamily="34" charset="0"/>
                <a:ea typeface="Arial" pitchFamily="34" charset="-122"/>
                <a:cs typeface="Arial" pitchFamily="34" charset="-120"/>
              </a:rPr>
              <a:t>Routes to processing</a:t>
            </a:r>
            <a:endParaRPr lang="en-US" sz="900" dirty="0"/>
          </a:p>
        </p:txBody>
      </p:sp>
      <p:sp>
        <p:nvSpPr>
          <p:cNvPr id="18" name="Shape 14"/>
          <p:cNvSpPr/>
          <p:nvPr/>
        </p:nvSpPr>
        <p:spPr>
          <a:xfrm>
            <a:off x="457200" y="2980944"/>
            <a:ext cx="8229600" cy="1207008"/>
          </a:xfrm>
          <a:prstGeom prst="roundRect">
            <a:avLst>
              <a:gd name="adj" fmla="val 4545"/>
            </a:avLst>
          </a:prstGeom>
          <a:solidFill>
            <a:srgbClr val="DCE3F0"/>
          </a:solidFill>
          <a:ln w="15875">
            <a:solidFill>
              <a:srgbClr val="33328F"/>
            </a:solidFill>
            <a:prstDash val="solid"/>
          </a:ln>
        </p:spPr>
      </p:sp>
      <p:sp>
        <p:nvSpPr>
          <p:cNvPr id="19" name="Text 15"/>
          <p:cNvSpPr txBox="1"/>
          <p:nvPr/>
        </p:nvSpPr>
        <p:spPr>
          <a:xfrm>
            <a:off x="594360" y="3044952"/>
            <a:ext cx="7955280" cy="274320"/>
          </a:xfrm>
          <a:prstGeom prst="rect">
            <a:avLst/>
          </a:prstGeom>
          <a:noFill/>
          <a:ln/>
        </p:spPr>
        <p:txBody>
          <a:bodyPr wrap="square" rtlCol="0" anchor="ctr"/>
          <a:lstStyle/>
          <a:p>
            <a:pPr marL="0" indent="0">
              <a:buNone/>
            </a:pPr>
            <a:r>
              <a:rPr lang="en-US" sz="1250" b="1" dirty="0">
                <a:solidFill>
                  <a:srgbClr val="000000"/>
                </a:solidFill>
                <a:latin typeface="Arial" pitchFamily="34" charset="0"/>
                <a:ea typeface="Arial" pitchFamily="34" charset="-122"/>
                <a:cs typeface="Arial" pitchFamily="34" charset="-120"/>
              </a:rPr>
              <a:t>3. Intelligence &amp; Processing Tier</a:t>
            </a:r>
            <a:endParaRPr lang="en-US" sz="1250" dirty="0"/>
          </a:p>
        </p:txBody>
      </p:sp>
      <p:sp>
        <p:nvSpPr>
          <p:cNvPr id="20" name="Shape 16"/>
          <p:cNvSpPr/>
          <p:nvPr/>
        </p:nvSpPr>
        <p:spPr>
          <a:xfrm>
            <a:off x="594360" y="3364992"/>
            <a:ext cx="3913632" cy="749808"/>
          </a:xfrm>
          <a:prstGeom prst="rect">
            <a:avLst/>
          </a:prstGeom>
          <a:solidFill>
            <a:srgbClr val="FFFFFF"/>
          </a:solidFill>
          <a:ln w="12700">
            <a:solidFill>
              <a:srgbClr val="33328F"/>
            </a:solidFill>
            <a:prstDash val="solid"/>
          </a:ln>
        </p:spPr>
      </p:sp>
      <p:sp>
        <p:nvSpPr>
          <p:cNvPr id="21" name="Text 17"/>
          <p:cNvSpPr txBox="1"/>
          <p:nvPr/>
        </p:nvSpPr>
        <p:spPr>
          <a:xfrm>
            <a:off x="594360" y="3392424"/>
            <a:ext cx="3913632" cy="694944"/>
          </a:xfrm>
          <a:prstGeom prst="rect">
            <a:avLst/>
          </a:prstGeom>
          <a:noFill/>
          <a:ln/>
        </p:spPr>
        <p:txBody>
          <a:bodyPr wrap="square" lIns="25400" tIns="25400" rIns="25400" bIns="2540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Text Extraction</a:t>
            </a:r>
            <a:endParaRPr lang="en-US" sz="1100" dirty="0"/>
          </a:p>
          <a:p>
            <a:pPr marL="0" indent="0" algn="ctr">
              <a:buNone/>
            </a:pPr>
            <a:r>
              <a:rPr lang="en-US" sz="900" dirty="0">
                <a:solidFill>
                  <a:srgbClr val="404040"/>
                </a:solidFill>
                <a:latin typeface="Arial" pitchFamily="34" charset="0"/>
                <a:ea typeface="Arial" pitchFamily="34" charset="-122"/>
                <a:cs typeface="Arial" pitchFamily="34" charset="-120"/>
              </a:rPr>
              <a:t>Ingests PDF / DOCX via</a:t>
            </a:r>
            <a:endParaRPr lang="en-US" sz="1100" dirty="0"/>
          </a:p>
          <a:p>
            <a:pPr marL="0" indent="0" algn="ctr">
              <a:buNone/>
            </a:pPr>
            <a:r>
              <a:rPr lang="en-US" sz="900" dirty="0">
                <a:solidFill>
                  <a:srgbClr val="404040"/>
                </a:solidFill>
                <a:latin typeface="Arial" pitchFamily="34" charset="0"/>
                <a:ea typeface="Arial" pitchFamily="34" charset="-122"/>
                <a:cs typeface="Arial" pitchFamily="34" charset="-120"/>
              </a:rPr>
              <a:t>pdf-parse and mammoth</a:t>
            </a:r>
            <a:endParaRPr lang="en-US" sz="1100" dirty="0"/>
          </a:p>
        </p:txBody>
      </p:sp>
      <p:sp>
        <p:nvSpPr>
          <p:cNvPr id="22" name="Shape 18"/>
          <p:cNvSpPr/>
          <p:nvPr/>
        </p:nvSpPr>
        <p:spPr>
          <a:xfrm>
            <a:off x="4636008" y="3364992"/>
            <a:ext cx="3913632" cy="749808"/>
          </a:xfrm>
          <a:prstGeom prst="rect">
            <a:avLst/>
          </a:prstGeom>
          <a:solidFill>
            <a:srgbClr val="FFFFFF"/>
          </a:solidFill>
          <a:ln w="12700">
            <a:solidFill>
              <a:srgbClr val="33328F"/>
            </a:solidFill>
            <a:prstDash val="solid"/>
          </a:ln>
        </p:spPr>
      </p:sp>
      <p:sp>
        <p:nvSpPr>
          <p:cNvPr id="23" name="Text 19"/>
          <p:cNvSpPr txBox="1"/>
          <p:nvPr/>
        </p:nvSpPr>
        <p:spPr>
          <a:xfrm>
            <a:off x="4636008" y="3392424"/>
            <a:ext cx="3913632" cy="694944"/>
          </a:xfrm>
          <a:prstGeom prst="rect">
            <a:avLst/>
          </a:prstGeom>
          <a:noFill/>
          <a:ln/>
        </p:spPr>
        <p:txBody>
          <a:bodyPr wrap="square" lIns="25400" tIns="25400" rIns="25400" bIns="2540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Reasoning Engine</a:t>
            </a:r>
            <a:endParaRPr lang="en-US" sz="1100" dirty="0"/>
          </a:p>
          <a:p>
            <a:pPr marL="0" indent="0" algn="ctr">
              <a:buNone/>
            </a:pPr>
            <a:r>
              <a:rPr lang="en-US" sz="900" dirty="0">
                <a:solidFill>
                  <a:srgbClr val="404040"/>
                </a:solidFill>
                <a:latin typeface="Arial" pitchFamily="34" charset="0"/>
                <a:ea typeface="Arial" pitchFamily="34" charset="-122"/>
                <a:cs typeface="Arial" pitchFamily="34" charset="-120"/>
              </a:rPr>
              <a:t>Contextual prompt engineering with</a:t>
            </a:r>
            <a:endParaRPr lang="en-US" sz="1100" dirty="0"/>
          </a:p>
          <a:p>
            <a:pPr marL="0" indent="0" algn="ctr">
              <a:buNone/>
            </a:pPr>
            <a:r>
              <a:rPr lang="en-US" sz="900" dirty="0">
                <a:solidFill>
                  <a:srgbClr val="404040"/>
                </a:solidFill>
                <a:latin typeface="Arial" pitchFamily="34" charset="0"/>
                <a:ea typeface="Arial" pitchFamily="34" charset="-122"/>
                <a:cs typeface="Arial" pitchFamily="34" charset="-120"/>
              </a:rPr>
              <a:t>Google Gemini 1.5, across English,</a:t>
            </a:r>
            <a:endParaRPr lang="en-US" sz="1100" dirty="0"/>
          </a:p>
          <a:p>
            <a:pPr marL="0" indent="0" algn="ctr">
              <a:buNone/>
            </a:pPr>
            <a:r>
              <a:rPr lang="en-US" sz="900" dirty="0">
                <a:solidFill>
                  <a:srgbClr val="404040"/>
                </a:solidFill>
                <a:latin typeface="Arial" pitchFamily="34" charset="0"/>
                <a:ea typeface="Arial" pitchFamily="34" charset="-122"/>
                <a:cs typeface="Arial" pitchFamily="34" charset="-120"/>
              </a:rPr>
              <a:t>Hindi, Marathi &amp; Sanskrit</a:t>
            </a:r>
            <a:endParaRPr lang="en-US" sz="1100" dirty="0"/>
          </a:p>
        </p:txBody>
      </p:sp>
      <p:sp>
        <p:nvSpPr>
          <p:cNvPr id="24" name="Shape 20"/>
          <p:cNvSpPr/>
          <p:nvPr/>
        </p:nvSpPr>
        <p:spPr>
          <a:xfrm>
            <a:off x="4434840" y="4261104"/>
            <a:ext cx="274320" cy="201168"/>
          </a:xfrm>
          <a:prstGeom prst="downArrow">
            <a:avLst/>
          </a:prstGeom>
          <a:solidFill>
            <a:srgbClr val="33328F"/>
          </a:solidFill>
          <a:ln w="12700">
            <a:solidFill>
              <a:srgbClr val="33328F"/>
            </a:solidFill>
            <a:prstDash val="solid"/>
          </a:ln>
        </p:spPr>
      </p:sp>
      <p:sp>
        <p:nvSpPr>
          <p:cNvPr id="25" name="Text 21"/>
          <p:cNvSpPr txBox="1"/>
          <p:nvPr/>
        </p:nvSpPr>
        <p:spPr>
          <a:xfrm>
            <a:off x="4800600" y="4242816"/>
            <a:ext cx="2194560" cy="237744"/>
          </a:xfrm>
          <a:prstGeom prst="rect">
            <a:avLst/>
          </a:prstGeom>
          <a:noFill/>
          <a:ln/>
        </p:spPr>
        <p:txBody>
          <a:bodyPr wrap="square" rtlCol="0" anchor="ctr"/>
          <a:lstStyle/>
          <a:p>
            <a:pPr marL="0" indent="0">
              <a:buNone/>
            </a:pPr>
            <a:r>
              <a:rPr lang="en-US" sz="900" i="1" dirty="0">
                <a:solidFill>
                  <a:srgbClr val="33328F"/>
                </a:solidFill>
                <a:latin typeface="Arial" pitchFamily="34" charset="0"/>
                <a:ea typeface="Arial" pitchFamily="34" charset="-122"/>
                <a:cs typeface="Arial" pitchFamily="34" charset="-120"/>
              </a:rPr>
              <a:t>Read / Write + Notify</a:t>
            </a:r>
            <a:endParaRPr lang="en-US" sz="900" dirty="0"/>
          </a:p>
        </p:txBody>
      </p:sp>
      <p:sp>
        <p:nvSpPr>
          <p:cNvPr id="26" name="Shape 22"/>
          <p:cNvSpPr/>
          <p:nvPr/>
        </p:nvSpPr>
        <p:spPr>
          <a:xfrm>
            <a:off x="457200" y="4480560"/>
            <a:ext cx="8229600" cy="566928"/>
          </a:xfrm>
          <a:prstGeom prst="roundRect">
            <a:avLst>
              <a:gd name="adj" fmla="val 9677"/>
            </a:avLst>
          </a:prstGeom>
          <a:solidFill>
            <a:srgbClr val="E8EAF6"/>
          </a:solidFill>
          <a:ln w="15875">
            <a:solidFill>
              <a:srgbClr val="33328F"/>
            </a:solidFill>
            <a:prstDash val="solid"/>
          </a:ln>
        </p:spPr>
      </p:sp>
      <p:sp>
        <p:nvSpPr>
          <p:cNvPr id="27" name="Text 23"/>
          <p:cNvSpPr txBox="1"/>
          <p:nvPr/>
        </p:nvSpPr>
        <p:spPr>
          <a:xfrm>
            <a:off x="594360" y="4507992"/>
            <a:ext cx="7955280" cy="512064"/>
          </a:xfrm>
          <a:prstGeom prst="rect">
            <a:avLst/>
          </a:prstGeom>
          <a:noFill/>
          <a:ln/>
        </p:spPr>
        <p:txBody>
          <a:bodyPr wrap="square" lIns="0" tIns="0" rIns="0" bIns="0" rtlCol="0" anchor="ctr"/>
          <a:lstStyle/>
          <a:p>
            <a:pPr marL="0" indent="0">
              <a:buNone/>
            </a:pPr>
            <a:r>
              <a:rPr lang="en-US" sz="1250" b="1" dirty="0">
                <a:solidFill>
                  <a:srgbClr val="000000"/>
                </a:solidFill>
                <a:latin typeface="Arial" pitchFamily="34" charset="0"/>
                <a:ea typeface="Arial" pitchFamily="34" charset="-122"/>
                <a:cs typeface="Arial" pitchFamily="34" charset="-120"/>
              </a:rPr>
              <a:t>4. Storage &amp; Notification Tier</a:t>
            </a:r>
            <a:endParaRPr lang="en-US" sz="1250" dirty="0"/>
          </a:p>
          <a:p>
            <a:pPr marL="0" indent="0">
              <a:buNone/>
            </a:pPr>
            <a:r>
              <a:rPr lang="en-US" sz="1000" dirty="0">
                <a:solidFill>
                  <a:srgbClr val="404040"/>
                </a:solidFill>
                <a:latin typeface="Arial" pitchFamily="34" charset="0"/>
                <a:ea typeface="Arial" pitchFamily="34" charset="-122"/>
                <a:cs typeface="Arial" pitchFamily="34" charset="-120"/>
              </a:rPr>
              <a:t>PostgreSQL (production) / SQLite3 (local)   •   Asynchronous email via Resend API / SMTP Nodemailer</a:t>
            </a:r>
            <a:endParaRPr lang="en-US" sz="1250" dirty="0"/>
          </a:p>
        </p:txBody>
      </p:sp>
      <p:sp>
        <p:nvSpPr>
          <p:cNvPr id="28" name="Text 24"/>
          <p:cNvSpPr txBox="1"/>
          <p:nvPr/>
        </p:nvSpPr>
        <p:spPr>
          <a:xfrm>
            <a:off x="0" y="5193792"/>
            <a:ext cx="9144000" cy="320040"/>
          </a:xfrm>
          <a:prstGeom prst="rect">
            <a:avLst/>
          </a:prstGeom>
          <a:noFill/>
          <a:ln/>
        </p:spPr>
        <p:txBody>
          <a:bodyPr wrap="square" rtlCol="0" anchor="ctr"/>
          <a:lstStyle/>
          <a:p>
            <a:pPr marL="0" indent="0" algn="ctr">
              <a:buNone/>
            </a:pPr>
            <a:r>
              <a:rPr lang="en-US" sz="1200" b="1" i="1" dirty="0">
                <a:solidFill>
                  <a:srgbClr val="000000"/>
                </a:solidFill>
                <a:latin typeface="Times New Roman" pitchFamily="34" charset="0"/>
                <a:ea typeface="Times New Roman" pitchFamily="34" charset="-122"/>
                <a:cs typeface="Times New Roman" pitchFamily="34" charset="-120"/>
              </a:rPr>
              <a:t>Fig. 1: Block diagram of the proposed system (4-tier architecture)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Methodology: Core Relational Entities</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9</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13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users (PK: id) — student credentials, target role, dream companies, and focus time budget (57 min).</a:t>
            </a:r>
            <a:endParaRPr lang="en-US" sz="1450" dirty="0"/>
          </a:p>
          <a:p>
            <a:pPr marL="342900" indent="-342900">
              <a:spcAft>
                <a:spcPts val="13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chat_sessions &amp; chat_messages (1:N) — multi-session persistent chat history with document attachment metadata.</a:t>
            </a:r>
            <a:endParaRPr lang="en-US" sz="1450" dirty="0"/>
          </a:p>
          <a:p>
            <a:pPr marL="342900" indent="-342900">
              <a:spcAft>
                <a:spcPts val="13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resumes (1:N with users) — uploaded documents, calculated ATS score (0–100), and Google X-Y-Z feedback.</a:t>
            </a:r>
            <a:endParaRPr lang="en-US" sz="1450" dirty="0"/>
          </a:p>
          <a:p>
            <a:pPr marL="342900" indent="-342900">
              <a:spcAft>
                <a:spcPts val="13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roadmaps &amp; roadmap_tasks (1:N) — 4–12 week milestones with 1 curated YouTube link per week on Day 1.</a:t>
            </a:r>
            <a:endParaRPr lang="en-US" sz="1450" dirty="0"/>
          </a:p>
          <a:p>
            <a:pPr marL="342900" indent="-342900">
              <a:spcAft>
                <a:spcPts val="13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plans (1:N with users) — collaborative schedules with 👤 Human vs 🤖 AI Co-Pilot task tags and workload risk diagnostics.</a:t>
            </a:r>
            <a:endParaRPr lang="en-US" sz="1450" dirty="0"/>
          </a:p>
          <a:p>
            <a:pPr marL="342900" indent="-342900">
              <a:spcAft>
                <a:spcPts val="13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reminders (1:N with users) — background autonomous 2-hour check-ins and delivery timestamps.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Entity-Relationship (ER) Diagram</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10</a:t>
            </a:r>
            <a:endParaRPr lang="en-US" sz="1200" dirty="0"/>
          </a:p>
        </p:txBody>
      </p:sp>
      <p:sp>
        <p:nvSpPr>
          <p:cNvPr id="9" name="Shape 5"/>
          <p:cNvSpPr/>
          <p:nvPr/>
        </p:nvSpPr>
        <p:spPr>
          <a:xfrm>
            <a:off x="3794760" y="1051560"/>
            <a:ext cx="1554480" cy="594360"/>
          </a:xfrm>
          <a:prstGeom prst="rect">
            <a:avLst/>
          </a:prstGeom>
          <a:solidFill>
            <a:srgbClr val="E8EAF6"/>
          </a:solidFill>
          <a:ln w="12700">
            <a:solidFill>
              <a:srgbClr val="33328F"/>
            </a:solidFill>
            <a:prstDash val="solid"/>
          </a:ln>
        </p:spPr>
      </p:sp>
      <p:sp>
        <p:nvSpPr>
          <p:cNvPr id="10" name="Shape 6"/>
          <p:cNvSpPr/>
          <p:nvPr/>
        </p:nvSpPr>
        <p:spPr>
          <a:xfrm>
            <a:off x="3794760" y="1051560"/>
            <a:ext cx="1554480" cy="237744"/>
          </a:xfrm>
          <a:prstGeom prst="rect">
            <a:avLst/>
          </a:prstGeom>
          <a:solidFill>
            <a:srgbClr val="33328F"/>
          </a:solidFill>
          <a:ln w="12700">
            <a:solidFill>
              <a:srgbClr val="33328F"/>
            </a:solidFill>
            <a:prstDash val="solid"/>
          </a:ln>
        </p:spPr>
      </p:sp>
      <p:sp>
        <p:nvSpPr>
          <p:cNvPr id="11" name="Text 7"/>
          <p:cNvSpPr txBox="1"/>
          <p:nvPr/>
        </p:nvSpPr>
        <p:spPr>
          <a:xfrm>
            <a:off x="3794760" y="1051560"/>
            <a:ext cx="15544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USERS</a:t>
            </a:r>
            <a:endParaRPr lang="en-US" sz="900" dirty="0"/>
          </a:p>
        </p:txBody>
      </p:sp>
      <p:sp>
        <p:nvSpPr>
          <p:cNvPr id="12" name="Text 8"/>
          <p:cNvSpPr txBox="1"/>
          <p:nvPr/>
        </p:nvSpPr>
        <p:spPr>
          <a:xfrm>
            <a:off x="3831336" y="1307592"/>
            <a:ext cx="1481328" cy="32004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email, name</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target_role</a:t>
            </a:r>
            <a:endParaRPr lang="en-US" sz="700" dirty="0"/>
          </a:p>
        </p:txBody>
      </p:sp>
      <p:sp>
        <p:nvSpPr>
          <p:cNvPr id="13" name="Shape 9"/>
          <p:cNvSpPr/>
          <p:nvPr/>
        </p:nvSpPr>
        <p:spPr>
          <a:xfrm>
            <a:off x="320040" y="2148840"/>
            <a:ext cx="1325880" cy="777240"/>
          </a:xfrm>
          <a:prstGeom prst="rect">
            <a:avLst/>
          </a:prstGeom>
          <a:solidFill>
            <a:srgbClr val="FFFFFF"/>
          </a:solidFill>
          <a:ln w="12700">
            <a:solidFill>
              <a:srgbClr val="33328F"/>
            </a:solidFill>
            <a:prstDash val="solid"/>
          </a:ln>
        </p:spPr>
      </p:sp>
      <p:sp>
        <p:nvSpPr>
          <p:cNvPr id="14" name="Shape 10"/>
          <p:cNvSpPr/>
          <p:nvPr/>
        </p:nvSpPr>
        <p:spPr>
          <a:xfrm>
            <a:off x="320040" y="2148840"/>
            <a:ext cx="1325880" cy="237744"/>
          </a:xfrm>
          <a:prstGeom prst="rect">
            <a:avLst/>
          </a:prstGeom>
          <a:solidFill>
            <a:srgbClr val="33328F"/>
          </a:solidFill>
          <a:ln w="12700">
            <a:solidFill>
              <a:srgbClr val="33328F"/>
            </a:solidFill>
            <a:prstDash val="solid"/>
          </a:ln>
        </p:spPr>
      </p:sp>
      <p:sp>
        <p:nvSpPr>
          <p:cNvPr id="15" name="Text 11"/>
          <p:cNvSpPr txBox="1"/>
          <p:nvPr/>
        </p:nvSpPr>
        <p:spPr>
          <a:xfrm>
            <a:off x="320040" y="214884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RESUMES</a:t>
            </a:r>
            <a:endParaRPr lang="en-US" sz="900" dirty="0"/>
          </a:p>
        </p:txBody>
      </p:sp>
      <p:sp>
        <p:nvSpPr>
          <p:cNvPr id="16" name="Text 12"/>
          <p:cNvSpPr txBox="1"/>
          <p:nvPr/>
        </p:nvSpPr>
        <p:spPr>
          <a:xfrm>
            <a:off x="356616" y="240487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user_id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score, feedback</a:t>
            </a:r>
            <a:endParaRPr lang="en-US" sz="700" dirty="0"/>
          </a:p>
        </p:txBody>
      </p:sp>
      <p:sp>
        <p:nvSpPr>
          <p:cNvPr id="17" name="Shape 13"/>
          <p:cNvSpPr/>
          <p:nvPr/>
        </p:nvSpPr>
        <p:spPr>
          <a:xfrm>
            <a:off x="1762963" y="2148840"/>
            <a:ext cx="1325880" cy="777240"/>
          </a:xfrm>
          <a:prstGeom prst="rect">
            <a:avLst/>
          </a:prstGeom>
          <a:solidFill>
            <a:srgbClr val="FFFFFF"/>
          </a:solidFill>
          <a:ln w="12700">
            <a:solidFill>
              <a:srgbClr val="33328F"/>
            </a:solidFill>
            <a:prstDash val="solid"/>
          </a:ln>
        </p:spPr>
      </p:sp>
      <p:sp>
        <p:nvSpPr>
          <p:cNvPr id="18" name="Shape 14"/>
          <p:cNvSpPr/>
          <p:nvPr/>
        </p:nvSpPr>
        <p:spPr>
          <a:xfrm>
            <a:off x="1762963" y="2148840"/>
            <a:ext cx="1325880" cy="237744"/>
          </a:xfrm>
          <a:prstGeom prst="rect">
            <a:avLst/>
          </a:prstGeom>
          <a:solidFill>
            <a:srgbClr val="33328F"/>
          </a:solidFill>
          <a:ln w="12700">
            <a:solidFill>
              <a:srgbClr val="33328F"/>
            </a:solidFill>
            <a:prstDash val="solid"/>
          </a:ln>
        </p:spPr>
      </p:sp>
      <p:sp>
        <p:nvSpPr>
          <p:cNvPr id="19" name="Text 15"/>
          <p:cNvSpPr txBox="1"/>
          <p:nvPr/>
        </p:nvSpPr>
        <p:spPr>
          <a:xfrm>
            <a:off x="1762963" y="214884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ROADMAPS</a:t>
            </a:r>
            <a:endParaRPr lang="en-US" sz="900" dirty="0"/>
          </a:p>
        </p:txBody>
      </p:sp>
      <p:sp>
        <p:nvSpPr>
          <p:cNvPr id="20" name="Text 16"/>
          <p:cNvSpPr txBox="1"/>
          <p:nvPr/>
        </p:nvSpPr>
        <p:spPr>
          <a:xfrm>
            <a:off x="1799539" y="240487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user_id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skill_name</a:t>
            </a:r>
            <a:endParaRPr lang="en-US" sz="700" dirty="0"/>
          </a:p>
        </p:txBody>
      </p:sp>
      <p:sp>
        <p:nvSpPr>
          <p:cNvPr id="21" name="Shape 17"/>
          <p:cNvSpPr/>
          <p:nvPr/>
        </p:nvSpPr>
        <p:spPr>
          <a:xfrm>
            <a:off x="3205886" y="2148840"/>
            <a:ext cx="1325880" cy="777240"/>
          </a:xfrm>
          <a:prstGeom prst="rect">
            <a:avLst/>
          </a:prstGeom>
          <a:solidFill>
            <a:srgbClr val="FFFFFF"/>
          </a:solidFill>
          <a:ln w="12700">
            <a:solidFill>
              <a:srgbClr val="33328F"/>
            </a:solidFill>
            <a:prstDash val="solid"/>
          </a:ln>
        </p:spPr>
      </p:sp>
      <p:sp>
        <p:nvSpPr>
          <p:cNvPr id="22" name="Shape 18"/>
          <p:cNvSpPr/>
          <p:nvPr/>
        </p:nvSpPr>
        <p:spPr>
          <a:xfrm>
            <a:off x="3205886" y="2148840"/>
            <a:ext cx="1325880" cy="237744"/>
          </a:xfrm>
          <a:prstGeom prst="rect">
            <a:avLst/>
          </a:prstGeom>
          <a:solidFill>
            <a:srgbClr val="33328F"/>
          </a:solidFill>
          <a:ln w="12700">
            <a:solidFill>
              <a:srgbClr val="33328F"/>
            </a:solidFill>
            <a:prstDash val="solid"/>
          </a:ln>
        </p:spPr>
      </p:sp>
      <p:sp>
        <p:nvSpPr>
          <p:cNvPr id="23" name="Text 19"/>
          <p:cNvSpPr txBox="1"/>
          <p:nvPr/>
        </p:nvSpPr>
        <p:spPr>
          <a:xfrm>
            <a:off x="3205886" y="214884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PLANS</a:t>
            </a:r>
            <a:endParaRPr lang="en-US" sz="900" dirty="0"/>
          </a:p>
        </p:txBody>
      </p:sp>
      <p:sp>
        <p:nvSpPr>
          <p:cNvPr id="24" name="Text 20"/>
          <p:cNvSpPr txBox="1"/>
          <p:nvPr/>
        </p:nvSpPr>
        <p:spPr>
          <a:xfrm>
            <a:off x="3242462" y="240487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user_id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plan_type</a:t>
            </a:r>
            <a:endParaRPr lang="en-US" sz="700" dirty="0"/>
          </a:p>
        </p:txBody>
      </p:sp>
      <p:sp>
        <p:nvSpPr>
          <p:cNvPr id="25" name="Shape 21"/>
          <p:cNvSpPr/>
          <p:nvPr/>
        </p:nvSpPr>
        <p:spPr>
          <a:xfrm>
            <a:off x="4648810" y="2148840"/>
            <a:ext cx="1325880" cy="777240"/>
          </a:xfrm>
          <a:prstGeom prst="rect">
            <a:avLst/>
          </a:prstGeom>
          <a:solidFill>
            <a:srgbClr val="FFFFFF"/>
          </a:solidFill>
          <a:ln w="12700">
            <a:solidFill>
              <a:srgbClr val="33328F"/>
            </a:solidFill>
            <a:prstDash val="solid"/>
          </a:ln>
        </p:spPr>
      </p:sp>
      <p:sp>
        <p:nvSpPr>
          <p:cNvPr id="26" name="Shape 22"/>
          <p:cNvSpPr/>
          <p:nvPr/>
        </p:nvSpPr>
        <p:spPr>
          <a:xfrm>
            <a:off x="4648810" y="2148840"/>
            <a:ext cx="1325880" cy="237744"/>
          </a:xfrm>
          <a:prstGeom prst="rect">
            <a:avLst/>
          </a:prstGeom>
          <a:solidFill>
            <a:srgbClr val="33328F"/>
          </a:solidFill>
          <a:ln w="12700">
            <a:solidFill>
              <a:srgbClr val="33328F"/>
            </a:solidFill>
            <a:prstDash val="solid"/>
          </a:ln>
        </p:spPr>
      </p:sp>
      <p:sp>
        <p:nvSpPr>
          <p:cNvPr id="27" name="Text 23"/>
          <p:cNvSpPr txBox="1"/>
          <p:nvPr/>
        </p:nvSpPr>
        <p:spPr>
          <a:xfrm>
            <a:off x="4648810" y="214884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CHAT_SESSIONS</a:t>
            </a:r>
            <a:endParaRPr lang="en-US" sz="900" dirty="0"/>
          </a:p>
        </p:txBody>
      </p:sp>
      <p:sp>
        <p:nvSpPr>
          <p:cNvPr id="28" name="Text 24"/>
          <p:cNvSpPr txBox="1"/>
          <p:nvPr/>
        </p:nvSpPr>
        <p:spPr>
          <a:xfrm>
            <a:off x="4685386" y="240487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user_id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title</a:t>
            </a:r>
            <a:endParaRPr lang="en-US" sz="700" dirty="0"/>
          </a:p>
        </p:txBody>
      </p:sp>
      <p:sp>
        <p:nvSpPr>
          <p:cNvPr id="29" name="Shape 25"/>
          <p:cNvSpPr/>
          <p:nvPr/>
        </p:nvSpPr>
        <p:spPr>
          <a:xfrm>
            <a:off x="6091733" y="2148840"/>
            <a:ext cx="1325880" cy="777240"/>
          </a:xfrm>
          <a:prstGeom prst="rect">
            <a:avLst/>
          </a:prstGeom>
          <a:solidFill>
            <a:srgbClr val="FFFFFF"/>
          </a:solidFill>
          <a:ln w="12700">
            <a:solidFill>
              <a:srgbClr val="33328F"/>
            </a:solidFill>
            <a:prstDash val="solid"/>
          </a:ln>
        </p:spPr>
      </p:sp>
      <p:sp>
        <p:nvSpPr>
          <p:cNvPr id="30" name="Shape 26"/>
          <p:cNvSpPr/>
          <p:nvPr/>
        </p:nvSpPr>
        <p:spPr>
          <a:xfrm>
            <a:off x="6091733" y="2148840"/>
            <a:ext cx="1325880" cy="237744"/>
          </a:xfrm>
          <a:prstGeom prst="rect">
            <a:avLst/>
          </a:prstGeom>
          <a:solidFill>
            <a:srgbClr val="33328F"/>
          </a:solidFill>
          <a:ln w="12700">
            <a:solidFill>
              <a:srgbClr val="33328F"/>
            </a:solidFill>
            <a:prstDash val="solid"/>
          </a:ln>
        </p:spPr>
      </p:sp>
      <p:sp>
        <p:nvSpPr>
          <p:cNvPr id="31" name="Text 27"/>
          <p:cNvSpPr txBox="1"/>
          <p:nvPr/>
        </p:nvSpPr>
        <p:spPr>
          <a:xfrm>
            <a:off x="6091733" y="214884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REMINDERS</a:t>
            </a:r>
            <a:endParaRPr lang="en-US" sz="900" dirty="0"/>
          </a:p>
        </p:txBody>
      </p:sp>
      <p:sp>
        <p:nvSpPr>
          <p:cNvPr id="32" name="Text 28"/>
          <p:cNvSpPr txBox="1"/>
          <p:nvPr/>
        </p:nvSpPr>
        <p:spPr>
          <a:xfrm>
            <a:off x="6128309" y="240487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user_id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is_sent</a:t>
            </a:r>
            <a:endParaRPr lang="en-US" sz="700" dirty="0"/>
          </a:p>
        </p:txBody>
      </p:sp>
      <p:sp>
        <p:nvSpPr>
          <p:cNvPr id="33" name="Shape 29"/>
          <p:cNvSpPr/>
          <p:nvPr/>
        </p:nvSpPr>
        <p:spPr>
          <a:xfrm>
            <a:off x="7534656" y="2148840"/>
            <a:ext cx="1325880" cy="777240"/>
          </a:xfrm>
          <a:prstGeom prst="rect">
            <a:avLst/>
          </a:prstGeom>
          <a:solidFill>
            <a:srgbClr val="FFFFFF"/>
          </a:solidFill>
          <a:ln w="12700">
            <a:solidFill>
              <a:srgbClr val="33328F"/>
            </a:solidFill>
            <a:prstDash val="solid"/>
          </a:ln>
        </p:spPr>
      </p:sp>
      <p:sp>
        <p:nvSpPr>
          <p:cNvPr id="34" name="Shape 30"/>
          <p:cNvSpPr/>
          <p:nvPr/>
        </p:nvSpPr>
        <p:spPr>
          <a:xfrm>
            <a:off x="7534656" y="2148840"/>
            <a:ext cx="1325880" cy="237744"/>
          </a:xfrm>
          <a:prstGeom prst="rect">
            <a:avLst/>
          </a:prstGeom>
          <a:solidFill>
            <a:srgbClr val="33328F"/>
          </a:solidFill>
          <a:ln w="12700">
            <a:solidFill>
              <a:srgbClr val="33328F"/>
            </a:solidFill>
            <a:prstDash val="solid"/>
          </a:ln>
        </p:spPr>
      </p:sp>
      <p:sp>
        <p:nvSpPr>
          <p:cNvPr id="35" name="Text 31"/>
          <p:cNvSpPr txBox="1"/>
          <p:nvPr/>
        </p:nvSpPr>
        <p:spPr>
          <a:xfrm>
            <a:off x="7534656" y="214884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GOALS</a:t>
            </a:r>
            <a:endParaRPr lang="en-US" sz="900" dirty="0"/>
          </a:p>
        </p:txBody>
      </p:sp>
      <p:sp>
        <p:nvSpPr>
          <p:cNvPr id="36" name="Text 32"/>
          <p:cNvSpPr txBox="1"/>
          <p:nvPr/>
        </p:nvSpPr>
        <p:spPr>
          <a:xfrm>
            <a:off x="7571232" y="240487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user_id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status</a:t>
            </a:r>
            <a:endParaRPr lang="en-US" sz="700" dirty="0"/>
          </a:p>
        </p:txBody>
      </p:sp>
      <p:sp>
        <p:nvSpPr>
          <p:cNvPr id="37" name="Shape 33"/>
          <p:cNvSpPr/>
          <p:nvPr/>
        </p:nvSpPr>
        <p:spPr>
          <a:xfrm flipH="1">
            <a:off x="982980" y="1645920"/>
            <a:ext cx="3589020" cy="502920"/>
          </a:xfrm>
          <a:prstGeom prst="line">
            <a:avLst/>
          </a:prstGeom>
          <a:noFill/>
          <a:ln w="12700">
            <a:solidFill>
              <a:srgbClr val="33328F"/>
            </a:solidFill>
            <a:prstDash val="solid"/>
          </a:ln>
        </p:spPr>
      </p:sp>
      <p:sp>
        <p:nvSpPr>
          <p:cNvPr id="38" name="Shape 34"/>
          <p:cNvSpPr/>
          <p:nvPr/>
        </p:nvSpPr>
        <p:spPr>
          <a:xfrm flipH="1">
            <a:off x="2425903" y="1645920"/>
            <a:ext cx="2146097" cy="502920"/>
          </a:xfrm>
          <a:prstGeom prst="line">
            <a:avLst/>
          </a:prstGeom>
          <a:noFill/>
          <a:ln w="12700">
            <a:solidFill>
              <a:srgbClr val="33328F"/>
            </a:solidFill>
            <a:prstDash val="solid"/>
          </a:ln>
        </p:spPr>
      </p:sp>
      <p:sp>
        <p:nvSpPr>
          <p:cNvPr id="39" name="Shape 35"/>
          <p:cNvSpPr/>
          <p:nvPr/>
        </p:nvSpPr>
        <p:spPr>
          <a:xfrm flipH="1">
            <a:off x="3868826" y="1645920"/>
            <a:ext cx="703174" cy="502920"/>
          </a:xfrm>
          <a:prstGeom prst="line">
            <a:avLst/>
          </a:prstGeom>
          <a:noFill/>
          <a:ln w="12700">
            <a:solidFill>
              <a:srgbClr val="33328F"/>
            </a:solidFill>
            <a:prstDash val="solid"/>
          </a:ln>
        </p:spPr>
      </p:sp>
      <p:sp>
        <p:nvSpPr>
          <p:cNvPr id="40" name="Shape 36"/>
          <p:cNvSpPr/>
          <p:nvPr/>
        </p:nvSpPr>
        <p:spPr>
          <a:xfrm>
            <a:off x="4572000" y="1645920"/>
            <a:ext cx="739750" cy="502920"/>
          </a:xfrm>
          <a:prstGeom prst="line">
            <a:avLst/>
          </a:prstGeom>
          <a:noFill/>
          <a:ln w="12700">
            <a:solidFill>
              <a:srgbClr val="33328F"/>
            </a:solidFill>
            <a:prstDash val="solid"/>
          </a:ln>
        </p:spPr>
      </p:sp>
      <p:sp>
        <p:nvSpPr>
          <p:cNvPr id="41" name="Shape 37"/>
          <p:cNvSpPr/>
          <p:nvPr/>
        </p:nvSpPr>
        <p:spPr>
          <a:xfrm>
            <a:off x="4572000" y="1645920"/>
            <a:ext cx="2182673" cy="502920"/>
          </a:xfrm>
          <a:prstGeom prst="line">
            <a:avLst/>
          </a:prstGeom>
          <a:noFill/>
          <a:ln w="12700">
            <a:solidFill>
              <a:srgbClr val="33328F"/>
            </a:solidFill>
            <a:prstDash val="solid"/>
          </a:ln>
        </p:spPr>
      </p:sp>
      <p:sp>
        <p:nvSpPr>
          <p:cNvPr id="42" name="Shape 38"/>
          <p:cNvSpPr/>
          <p:nvPr/>
        </p:nvSpPr>
        <p:spPr>
          <a:xfrm>
            <a:off x="4572000" y="1645920"/>
            <a:ext cx="3625596" cy="502920"/>
          </a:xfrm>
          <a:prstGeom prst="line">
            <a:avLst/>
          </a:prstGeom>
          <a:noFill/>
          <a:ln w="12700">
            <a:solidFill>
              <a:srgbClr val="33328F"/>
            </a:solidFill>
            <a:prstDash val="solid"/>
          </a:ln>
        </p:spPr>
      </p:sp>
      <p:sp>
        <p:nvSpPr>
          <p:cNvPr id="43" name="Shape 39"/>
          <p:cNvSpPr/>
          <p:nvPr/>
        </p:nvSpPr>
        <p:spPr>
          <a:xfrm>
            <a:off x="1762963" y="3429000"/>
            <a:ext cx="1325880" cy="777240"/>
          </a:xfrm>
          <a:prstGeom prst="rect">
            <a:avLst/>
          </a:prstGeom>
          <a:solidFill>
            <a:srgbClr val="FFFFFF"/>
          </a:solidFill>
          <a:ln w="12700">
            <a:solidFill>
              <a:srgbClr val="33328F"/>
            </a:solidFill>
            <a:prstDash val="solid"/>
          </a:ln>
        </p:spPr>
      </p:sp>
      <p:sp>
        <p:nvSpPr>
          <p:cNvPr id="44" name="Shape 40"/>
          <p:cNvSpPr/>
          <p:nvPr/>
        </p:nvSpPr>
        <p:spPr>
          <a:xfrm>
            <a:off x="1762963" y="3429000"/>
            <a:ext cx="1325880" cy="237744"/>
          </a:xfrm>
          <a:prstGeom prst="rect">
            <a:avLst/>
          </a:prstGeom>
          <a:solidFill>
            <a:srgbClr val="33328F"/>
          </a:solidFill>
          <a:ln w="12700">
            <a:solidFill>
              <a:srgbClr val="33328F"/>
            </a:solidFill>
            <a:prstDash val="solid"/>
          </a:ln>
        </p:spPr>
      </p:sp>
      <p:sp>
        <p:nvSpPr>
          <p:cNvPr id="45" name="Text 41"/>
          <p:cNvSpPr txBox="1"/>
          <p:nvPr/>
        </p:nvSpPr>
        <p:spPr>
          <a:xfrm>
            <a:off x="1762963" y="342900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ROADMAP_TASKS</a:t>
            </a:r>
            <a:endParaRPr lang="en-US" sz="900" dirty="0"/>
          </a:p>
        </p:txBody>
      </p:sp>
      <p:sp>
        <p:nvSpPr>
          <p:cNvPr id="46" name="Text 42"/>
          <p:cNvSpPr txBox="1"/>
          <p:nvPr/>
        </p:nvSpPr>
        <p:spPr>
          <a:xfrm>
            <a:off x="1799539" y="368503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roadmap_id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week_no, is_complete</a:t>
            </a:r>
            <a:endParaRPr lang="en-US" sz="700" dirty="0"/>
          </a:p>
        </p:txBody>
      </p:sp>
      <p:sp>
        <p:nvSpPr>
          <p:cNvPr id="47" name="Shape 43"/>
          <p:cNvSpPr/>
          <p:nvPr/>
        </p:nvSpPr>
        <p:spPr>
          <a:xfrm>
            <a:off x="2425903" y="2926080"/>
            <a:ext cx="9144" cy="502920"/>
          </a:xfrm>
          <a:prstGeom prst="line">
            <a:avLst/>
          </a:prstGeom>
          <a:noFill/>
          <a:ln w="12700">
            <a:solidFill>
              <a:srgbClr val="33328F"/>
            </a:solidFill>
            <a:prstDash val="solid"/>
          </a:ln>
        </p:spPr>
      </p:sp>
      <p:sp>
        <p:nvSpPr>
          <p:cNvPr id="48" name="Shape 44"/>
          <p:cNvSpPr/>
          <p:nvPr/>
        </p:nvSpPr>
        <p:spPr>
          <a:xfrm>
            <a:off x="4648810" y="3429000"/>
            <a:ext cx="1325880" cy="777240"/>
          </a:xfrm>
          <a:prstGeom prst="rect">
            <a:avLst/>
          </a:prstGeom>
          <a:solidFill>
            <a:srgbClr val="FFFFFF"/>
          </a:solidFill>
          <a:ln w="12700">
            <a:solidFill>
              <a:srgbClr val="33328F"/>
            </a:solidFill>
            <a:prstDash val="solid"/>
          </a:ln>
        </p:spPr>
      </p:sp>
      <p:sp>
        <p:nvSpPr>
          <p:cNvPr id="49" name="Shape 45"/>
          <p:cNvSpPr/>
          <p:nvPr/>
        </p:nvSpPr>
        <p:spPr>
          <a:xfrm>
            <a:off x="4648810" y="3429000"/>
            <a:ext cx="1325880" cy="237744"/>
          </a:xfrm>
          <a:prstGeom prst="rect">
            <a:avLst/>
          </a:prstGeom>
          <a:solidFill>
            <a:srgbClr val="33328F"/>
          </a:solidFill>
          <a:ln w="12700">
            <a:solidFill>
              <a:srgbClr val="33328F"/>
            </a:solidFill>
            <a:prstDash val="solid"/>
          </a:ln>
        </p:spPr>
      </p:sp>
      <p:sp>
        <p:nvSpPr>
          <p:cNvPr id="50" name="Text 46"/>
          <p:cNvSpPr txBox="1"/>
          <p:nvPr/>
        </p:nvSpPr>
        <p:spPr>
          <a:xfrm>
            <a:off x="4648810" y="3429000"/>
            <a:ext cx="132588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CHAT_MESSAGES</a:t>
            </a:r>
            <a:endParaRPr lang="en-US" sz="900" dirty="0"/>
          </a:p>
        </p:txBody>
      </p:sp>
      <p:sp>
        <p:nvSpPr>
          <p:cNvPr id="51" name="Text 47"/>
          <p:cNvSpPr txBox="1"/>
          <p:nvPr/>
        </p:nvSpPr>
        <p:spPr>
          <a:xfrm>
            <a:off x="4685386" y="3685032"/>
            <a:ext cx="1252728" cy="502920"/>
          </a:xfrm>
          <a:prstGeom prst="rect">
            <a:avLst/>
          </a:prstGeom>
          <a:noFill/>
          <a:ln/>
        </p:spPr>
        <p:txBody>
          <a:bodyPr wrap="square" lIns="0" tIns="0" rIns="0" bIns="0" rtlCol="0" anchor="ctr"/>
          <a:lstStyle/>
          <a:p>
            <a:pPr marL="0" indent="0">
              <a:lnSpc>
                <a:spcPct val="105000"/>
              </a:lnSpc>
              <a:buNone/>
            </a:pPr>
            <a:r>
              <a:rPr lang="en-US" sz="700" dirty="0">
                <a:solidFill>
                  <a:srgbClr val="404040"/>
                </a:solidFill>
                <a:latin typeface="Arial" pitchFamily="34" charset="0"/>
                <a:ea typeface="Arial" pitchFamily="34" charset="-122"/>
                <a:cs typeface="Arial" pitchFamily="34" charset="-120"/>
              </a:rPr>
              <a:t>PK 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FK session_id</a:t>
            </a:r>
            <a:endParaRPr lang="en-US" sz="700" dirty="0"/>
          </a:p>
          <a:p>
            <a:pPr marL="0" indent="0">
              <a:lnSpc>
                <a:spcPct val="105000"/>
              </a:lnSpc>
              <a:buNone/>
            </a:pPr>
            <a:r>
              <a:rPr lang="en-US" sz="700" dirty="0">
                <a:solidFill>
                  <a:srgbClr val="404040"/>
                </a:solidFill>
                <a:latin typeface="Arial" pitchFamily="34" charset="0"/>
                <a:ea typeface="Arial" pitchFamily="34" charset="-122"/>
                <a:cs typeface="Arial" pitchFamily="34" charset="-120"/>
              </a:rPr>
              <a:t>sender, text</a:t>
            </a:r>
            <a:endParaRPr lang="en-US" sz="700" dirty="0"/>
          </a:p>
        </p:txBody>
      </p:sp>
      <p:sp>
        <p:nvSpPr>
          <p:cNvPr id="52" name="Shape 48"/>
          <p:cNvSpPr/>
          <p:nvPr/>
        </p:nvSpPr>
        <p:spPr>
          <a:xfrm>
            <a:off x="5311750" y="2926080"/>
            <a:ext cx="9144" cy="502920"/>
          </a:xfrm>
          <a:prstGeom prst="line">
            <a:avLst/>
          </a:prstGeom>
          <a:noFill/>
          <a:ln w="12700">
            <a:solidFill>
              <a:srgbClr val="33328F"/>
            </a:solidFill>
            <a:prstDash val="solid"/>
          </a:ln>
        </p:spPr>
      </p:sp>
      <p:sp>
        <p:nvSpPr>
          <p:cNvPr id="53" name="Text 49"/>
          <p:cNvSpPr txBox="1"/>
          <p:nvPr/>
        </p:nvSpPr>
        <p:spPr>
          <a:xfrm>
            <a:off x="0" y="4370832"/>
            <a:ext cx="9144000" cy="292608"/>
          </a:xfrm>
          <a:prstGeom prst="rect">
            <a:avLst/>
          </a:prstGeom>
          <a:noFill/>
          <a:ln/>
        </p:spPr>
        <p:txBody>
          <a:bodyPr wrap="square" rtlCol="0" anchor="ctr"/>
          <a:lstStyle/>
          <a:p>
            <a:pPr marL="0" indent="0" algn="ctr">
              <a:buNone/>
            </a:pPr>
            <a:r>
              <a:rPr lang="en-US" sz="1200" b="1" i="1" dirty="0">
                <a:solidFill>
                  <a:srgbClr val="000000"/>
                </a:solidFill>
                <a:latin typeface="Times New Roman" pitchFamily="34" charset="0"/>
                <a:ea typeface="Times New Roman" pitchFamily="34" charset="-122"/>
                <a:cs typeface="Times New Roman" pitchFamily="34" charset="-120"/>
              </a:rPr>
              <a:t>Fig. 2: Entity-Relationship (ER) diagram of CareerMentor AI</a:t>
            </a:r>
            <a:endParaRPr lang="en-US" sz="1200" dirty="0"/>
          </a:p>
        </p:txBody>
      </p:sp>
      <p:sp>
        <p:nvSpPr>
          <p:cNvPr id="54" name="Shape 50"/>
          <p:cNvSpPr/>
          <p:nvPr/>
        </p:nvSpPr>
        <p:spPr>
          <a:xfrm>
            <a:off x="457200" y="4828032"/>
            <a:ext cx="8229600" cy="0"/>
          </a:xfrm>
          <a:prstGeom prst="line">
            <a:avLst/>
          </a:prstGeom>
          <a:noFill/>
          <a:ln w="9525">
            <a:solidFill>
              <a:srgbClr val="BFBFBF"/>
            </a:solidFill>
            <a:prstDash val="solid"/>
          </a:ln>
        </p:spPr>
      </p:sp>
      <p:sp>
        <p:nvSpPr>
          <p:cNvPr id="55" name="Text 51"/>
          <p:cNvSpPr txBox="1"/>
          <p:nvPr/>
        </p:nvSpPr>
        <p:spPr>
          <a:xfrm>
            <a:off x="548640" y="4937760"/>
            <a:ext cx="80467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All child entities relate to users as 1 (Users) : N (child), enforced via foreign-key cascades.</a:t>
            </a:r>
            <a:endParaRPr lang="en-US" sz="1200" dirty="0"/>
          </a:p>
          <a:p>
            <a:pPr marL="342900" indent="-342900">
              <a:spcAft>
                <a:spcPts val="6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roadmap_tasks inherits its relationship through roadmaps; chat_messages inherits its relationship through chat_sessions.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Methodology: Step-by-Step Procedure</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11</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Onboarding: student logs in via 1-Click Demo or real email and sets target role, dream companies, language, and daily focus block (30m / 45m / 57m).</a:t>
            </a:r>
            <a:endParaRPr lang="en-US" sz="1450" dirty="0"/>
          </a:p>
          <a:p>
            <a:pPr marL="342900" indent="-342900">
              <a:spcAft>
                <a:spcPts val="14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Resume ATS Scoring: backend computes a 0–100 score and rewrites bullet points using the Google X-Y-Z formula (Accomplished X, measured by Y, by doing Z).</a:t>
            </a:r>
            <a:endParaRPr lang="en-US" sz="1450" dirty="0"/>
          </a:p>
          <a:p>
            <a:pPr marL="342900" indent="-342900">
              <a:spcAft>
                <a:spcPts val="14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Skill-Gap Assessment: the "What I Know" vault calculates company compatibility percentages (Google, Microsoft, TCS) and generates a bridging roadmap.</a:t>
            </a:r>
            <a:endParaRPr lang="en-US" sz="1450" dirty="0"/>
          </a:p>
          <a:p>
            <a:pPr marL="342900" indent="-342900">
              <a:spcAft>
                <a:spcPts val="14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Co-Planning: the Plan Analyzer diagnoses workload pros/cons and recalibrates tasks to the chosen 57-minute focus block with 1 click.</a:t>
            </a:r>
            <a:endParaRPr lang="en-US" sz="1450" dirty="0"/>
          </a:p>
          <a:p>
            <a:pPr marL="342900" indent="-342900">
              <a:spcAft>
                <a:spcPts val="14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Mentorship &amp; Autonomous Follow-Up: student chats via voice mic (🎤) or document upload (📎); if study stops, the autonomous agent emails an encouraging check-in after 2 hours.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Methodology: Technology Stack at a Glance</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12</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4206240"/>
        </p:xfrm>
        <a:graphic>
          <a:graphicData uri="http://schemas.openxmlformats.org/drawingml/2006/table">
            <a:tbl>
              <a:tblPr/>
              <a:tblGrid>
                <a:gridCol w="173736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tblGrid>
              <a:tr h="600891">
                <a:tc>
                  <a:txBody>
                    <a:bodyPr/>
                    <a:lstStyle/>
                    <a:p>
                      <a:pPr marL="0" indent="0">
                        <a:buNone/>
                      </a:pPr>
                      <a:r>
                        <a:rPr lang="en-US" sz="1200" b="1" dirty="0">
                          <a:solidFill>
                            <a:srgbClr val="FFFFFF"/>
                          </a:solidFill>
                          <a:latin typeface="Arial" pitchFamily="34" charset="0"/>
                          <a:ea typeface="Arial" pitchFamily="34" charset="-122"/>
                          <a:cs typeface="Arial" pitchFamily="34" charset="-120"/>
                        </a:rPr>
                        <a:t>Layer</a:t>
                      </a:r>
                      <a:endParaRPr lang="en-US" sz="120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328F"/>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Technologies</a:t>
                      </a:r>
                      <a:endParaRPr lang="en-US" sz="120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328F"/>
                    </a:solidFill>
                  </a:tcPr>
                </a:tc>
                <a:extLst>
                  <a:ext uri="{0D108BD9-81ED-4DB2-BD59-A6C34878D82A}">
                    <a16:rowId xmlns:a16="http://schemas.microsoft.com/office/drawing/2014/main" val="10000"/>
                  </a:ext>
                </a:extLst>
              </a:tr>
              <a:tr h="600891">
                <a:tc>
                  <a:txBody>
                    <a:bodyPr/>
                    <a:lstStyle/>
                    <a:p>
                      <a:pPr marL="0" indent="0">
                        <a:buNone/>
                      </a:pPr>
                      <a:r>
                        <a:rPr lang="en-US" sz="1250" b="1" dirty="0">
                          <a:solidFill>
                            <a:srgbClr val="000000"/>
                          </a:solidFill>
                          <a:latin typeface="Arial" pitchFamily="34" charset="0"/>
                          <a:ea typeface="Arial" pitchFamily="34" charset="-122"/>
                          <a:cs typeface="Arial" pitchFamily="34" charset="-120"/>
                        </a:rPr>
                        <a:t>Frontend</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React 19, Tailwind CSS (#0B1220 Dark SaaS), Vite, Web Speech API (voice mic).</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600891">
                <a:tc>
                  <a:txBody>
                    <a:bodyPr/>
                    <a:lstStyle/>
                    <a:p>
                      <a:pPr marL="0" indent="0">
                        <a:buNone/>
                      </a:pPr>
                      <a:r>
                        <a:rPr lang="en-US" sz="1250" b="1" dirty="0">
                          <a:solidFill>
                            <a:srgbClr val="000000"/>
                          </a:solidFill>
                          <a:latin typeface="Arial" pitchFamily="34" charset="0"/>
                          <a:ea typeface="Arial" pitchFamily="34" charset="-122"/>
                          <a:cs typeface="Arial" pitchFamily="34" charset="-120"/>
                        </a:rPr>
                        <a:t>Backend</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Node.js, Express.js REST API, JWT Auth, Multer, pdf-parse, mammoth.</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600891">
                <a:tc>
                  <a:txBody>
                    <a:bodyPr/>
                    <a:lstStyle/>
                    <a:p>
                      <a:pPr marL="0" indent="0">
                        <a:buNone/>
                      </a:pPr>
                      <a:r>
                        <a:rPr lang="en-US" sz="1250" b="1" dirty="0">
                          <a:solidFill>
                            <a:srgbClr val="000000"/>
                          </a:solidFill>
                          <a:latin typeface="Arial" pitchFamily="34" charset="0"/>
                          <a:ea typeface="Arial" pitchFamily="34" charset="-122"/>
                          <a:cs typeface="Arial" pitchFamily="34" charset="-120"/>
                        </a:rPr>
                        <a:t>AI Core</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Google Gemini 1.5 Pro / Flash via @google/generative-ai.</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600891">
                <a:tc>
                  <a:txBody>
                    <a:bodyPr/>
                    <a:lstStyle/>
                    <a:p>
                      <a:pPr marL="0" indent="0">
                        <a:buNone/>
                      </a:pPr>
                      <a:r>
                        <a:rPr lang="en-US" sz="1250" b="1" dirty="0">
                          <a:solidFill>
                            <a:srgbClr val="000000"/>
                          </a:solidFill>
                          <a:latin typeface="Arial" pitchFamily="34" charset="0"/>
                          <a:ea typeface="Arial" pitchFamily="34" charset="-122"/>
                          <a:cs typeface="Arial" pitchFamily="34" charset="-120"/>
                        </a:rPr>
                        <a:t>Databases</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PostgreSQL (Render Cloud) + SQLite3 (Local Fallback).</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600891">
                <a:tc>
                  <a:txBody>
                    <a:bodyPr/>
                    <a:lstStyle/>
                    <a:p>
                      <a:pPr marL="0" indent="0">
                        <a:buNone/>
                      </a:pPr>
                      <a:r>
                        <a:rPr lang="en-US" sz="1250" b="1" dirty="0">
                          <a:solidFill>
                            <a:srgbClr val="000000"/>
                          </a:solidFill>
                          <a:latin typeface="Arial" pitchFamily="34" charset="0"/>
                          <a:ea typeface="Arial" pitchFamily="34" charset="-122"/>
                          <a:cs typeface="Arial" pitchFamily="34" charset="-120"/>
                        </a:rPr>
                        <a:t>Notifications</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Resend REST API &amp; Nodemailer (SMTP).</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600891">
                <a:tc>
                  <a:txBody>
                    <a:bodyPr/>
                    <a:lstStyle/>
                    <a:p>
                      <a:pPr marL="0" indent="0">
                        <a:buNone/>
                      </a:pPr>
                      <a:r>
                        <a:rPr lang="en-US" sz="1250" b="1" dirty="0">
                          <a:solidFill>
                            <a:srgbClr val="000000"/>
                          </a:solidFill>
                          <a:latin typeface="Arial" pitchFamily="34" charset="0"/>
                          <a:ea typeface="Arial" pitchFamily="34" charset="-122"/>
                          <a:cs typeface="Arial" pitchFamily="34" charset="-120"/>
                        </a:rPr>
                        <a:t>Hosting</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Render Web Service with GitHub-automated CI/CD deployment.</a:t>
                      </a:r>
                      <a:endParaRPr lang="en-US" sz="12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2834640"/>
            <a:ext cx="9144000" cy="1097280"/>
          </a:xfrm>
          <a:prstGeom prst="rect">
            <a:avLst/>
          </a:prstGeom>
          <a:noFill/>
          <a:ln/>
        </p:spPr>
        <p:txBody>
          <a:bodyPr wrap="square" rtlCol="0" anchor="ctr"/>
          <a:lstStyle/>
          <a:p>
            <a:pPr marL="0" indent="0" algn="ctr">
              <a:buNone/>
            </a:pPr>
            <a:r>
              <a:rPr lang="en-US" sz="4000" b="1" dirty="0">
                <a:solidFill>
                  <a:srgbClr val="000000"/>
                </a:solidFill>
                <a:latin typeface="Times New Roman" pitchFamily="34" charset="0"/>
                <a:ea typeface="Times New Roman" pitchFamily="34" charset="-122"/>
                <a:cs typeface="Times New Roman" pitchFamily="34" charset="-120"/>
              </a:rPr>
              <a:t>Thank You !!!</a:t>
            </a:r>
            <a:endParaRPr lang="en-US" sz="4000" dirty="0"/>
          </a:p>
        </p:txBody>
      </p:sp>
      <p:sp>
        <p:nvSpPr>
          <p:cNvPr id="3" name="Shape 1"/>
          <p:cNvSpPr/>
          <p:nvPr/>
        </p:nvSpPr>
        <p:spPr>
          <a:xfrm>
            <a:off x="365760" y="6473952"/>
            <a:ext cx="8412480" cy="0"/>
          </a:xfrm>
          <a:prstGeom prst="line">
            <a:avLst/>
          </a:prstGeom>
          <a:noFill/>
          <a:ln w="19050">
            <a:solidFill>
              <a:srgbClr val="33328F"/>
            </a:solidFill>
            <a:prstDash val="solid"/>
          </a:ln>
        </p:spPr>
      </p:sp>
      <p:pic>
        <p:nvPicPr>
          <p:cNvPr id="4"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5" name="Text 2"/>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6" name="Text 3"/>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2834640"/>
            <a:ext cx="9144000" cy="1097280"/>
          </a:xfrm>
          <a:prstGeom prst="rect">
            <a:avLst/>
          </a:prstGeom>
          <a:noFill/>
          <a:ln/>
        </p:spPr>
        <p:txBody>
          <a:bodyPr wrap="square" rtlCol="0" anchor="ctr"/>
          <a:lstStyle/>
          <a:p>
            <a:pPr marL="0" indent="0" algn="ctr">
              <a:buNone/>
            </a:pPr>
            <a:r>
              <a:rPr lang="en-US" sz="4000" b="1" dirty="0">
                <a:solidFill>
                  <a:srgbClr val="000000"/>
                </a:solidFill>
                <a:latin typeface="Times New Roman" pitchFamily="34" charset="0"/>
                <a:ea typeface="Times New Roman" pitchFamily="34" charset="-122"/>
                <a:cs typeface="Times New Roman" pitchFamily="34" charset="-120"/>
              </a:rPr>
              <a:t>Q &amp; A</a:t>
            </a:r>
            <a:endParaRPr lang="en-US" sz="4000" dirty="0"/>
          </a:p>
        </p:txBody>
      </p:sp>
      <p:sp>
        <p:nvSpPr>
          <p:cNvPr id="3" name="Shape 1"/>
          <p:cNvSpPr/>
          <p:nvPr/>
        </p:nvSpPr>
        <p:spPr>
          <a:xfrm>
            <a:off x="365760" y="6473952"/>
            <a:ext cx="8412480" cy="0"/>
          </a:xfrm>
          <a:prstGeom prst="line">
            <a:avLst/>
          </a:prstGeom>
          <a:noFill/>
          <a:ln w="19050">
            <a:solidFill>
              <a:srgbClr val="33328F"/>
            </a:solidFill>
            <a:prstDash val="solid"/>
          </a:ln>
        </p:spPr>
      </p:sp>
      <p:pic>
        <p:nvPicPr>
          <p:cNvPr id="4"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5" name="Text 2"/>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6" name="Text 3"/>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2545</Words>
  <Application>Microsoft Office PowerPoint</Application>
  <PresentationFormat>On-screen Show (4:3)</PresentationFormat>
  <Paragraphs>210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Harsh jha</cp:lastModifiedBy>
  <cp:revision>1</cp:revision>
  <dcterms:created xsi:type="dcterms:W3CDTF">2026-09-09T03:56:26Z</dcterms:created>
  <dcterms:modified xsi:type="dcterms:W3CDTF">2026-09-09T04:01:41Z</dcterms:modified>
</cp:coreProperties>
</file>